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f174e0e-b7ef-aabd-0961-57816e2ec3ac}">
          <p14:sldIdLst>
            <p14:sldId id="256"/>
          </p14:sldIdLst>
        </p14:section>
        <p14:section name="System" id="{ff701e03-16e0-b51a-d824-6032b6b83518}">
          <p14:sldIdLst>
            <p14:sldId id="257"/>
          </p14:sldIdLst>
        </p14:section>
        <p14:section name="AI and machine learning" id="{5ebdb0eb-3aec-53f9-b731-7792028c9cae}">
          <p14:sldIdLst>
            <p14:sldId id="258"/>
            <p14:sldId id="259"/>
            <p14:sldId id="260"/>
          </p14:sldIdLst>
        </p14:section>
        <p14:section name="Games" id="{20c03106-67e3-92ee-d1f5-7e77ce2d11a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954"/>
                </a:solidFill>
                <a:latin typeface="+mn-lt"/>
              </a:defRPr>
            </a:pPr>
            <a:r>
              <a:rPr sz="1400" b="0" i="0" u="none" strike="noStrike">
                <a:solidFill>
                  <a:srgbClr val="0B3954"/>
                </a:solidFill>
                <a:latin typeface="+mn-lt"/>
              </a:rPr>
              <a:t>Leave-one-subject-out accuracy, 7 movements</a:t>
            </a:r>
          </a:p>
        </c:rich>
      </c:tx>
      <c:layout/>
      <c:overlay val="0"/>
    </c:title>
    <c:autoTitleDeleted val="0"/>
    <c:plotArea>
      <c:layout/>
      <c:barChart>
        <c:barDir val="bar"/>
        <c:grouping val="clustered"/>
        <c:varyColors val="0"/>
        <c:ser>
          <c:idx val="0"/>
          <c:order val="0"/>
          <c:tx>
            <c:strRef>
              <c:f>Sheet1!$B$1</c:f>
              <c:strCache>
                <c:ptCount val="1"/>
                <c:pt idx="0">
                  <c:v>LOSO accuracy (%)</c:v>
                </c:pt>
              </c:strCache>
            </c:strRef>
          </c:tx>
          <c:spPr>
            <a:solidFill>
              <a:srgbClr val="087E8B"/>
            </a:solidFill>
            <a:effectLst/>
          </c:spPr>
          <c:invertIfNegative val="0"/>
          <c:dLbls>
            <c:numFmt formatCode="0.0&quot;%&quot;" sourceLinked="0"/>
            <c:txPr>
              <a:bodyPr/>
              <a:lstStyle/>
              <a:p>
                <a:pPr>
                  <a:defRPr b="0" i="0" strike="noStrike" sz="1200" u="none">
                    <a:solidFill>
                      <a:srgbClr val="17252E"/>
                    </a:solidFill>
                    <a:latin typeface="+mn-lt"/>
                  </a:defRPr>
                </a:pPr>
              </a:p>
            </c:txPr>
            <c:showLegendKey val="0"/>
            <c:showVal val="1"/>
            <c:showCatName val="0"/>
            <c:showSerName val="0"/>
            <c:showPercent val="0"/>
            <c:showBubbleSize val="0"/>
            <c:showLeaderLines val="0"/>
          </c:dLbls>
          <c:cat>
            <c:multiLvlStrRef>
              <c:f>Sheet1!$A$2:$A$11</c:f>
              <c:multiLvlStrCache>
                <c:ptCount val="10"/>
                <c:lvl>
                  <c:pt idx="0">
                    <c:v>MOMENT untrained head</c:v>
                  </c:pt>
                  <c:pt idx="1">
                    <c:v>RF, 200 ms</c:v>
                  </c:pt>
                  <c:pt idx="2">
                    <c:v>LDA, 200 ms</c:v>
                  </c:pt>
                  <c:pt idx="3">
                    <c:v>SVM, 200 ms</c:v>
                  </c:pt>
                  <c:pt idx="4">
                    <c:v>RF, 5.12 s</c:v>
                  </c:pt>
                  <c:pt idx="5">
                    <c:v>MOMENT linear probe</c:v>
                  </c:pt>
                  <c:pt idx="6">
                    <c:v>LDA, 5.12 s</c:v>
                  </c:pt>
                  <c:pt idx="7">
                    <c:v>MOMENT + LoRA</c:v>
                  </c:pt>
                  <c:pt idx="8">
                    <c:v>SVM, 5.12 s</c:v>
                  </c:pt>
                  <c:pt idx="9">
                    <c:v>Frozen MOMENT + RF</c:v>
                  </c:pt>
                </c:lvl>
              </c:multiLvlStrCache>
            </c:multiLvlStrRef>
          </c:cat>
          <c:val>
            <c:numRef>
              <c:f>Sheet1!$B$2:$B$11</c:f>
              <c:numCache>
                <c:formatCode>General</c:formatCode>
                <c:ptCount val="10"/>
                <c:pt idx="0">
                  <c:v>14.2</c:v>
                </c:pt>
                <c:pt idx="1">
                  <c:v>34</c:v>
                </c:pt>
                <c:pt idx="2">
                  <c:v>34.7</c:v>
                </c:pt>
                <c:pt idx="3">
                  <c:v>37.2</c:v>
                </c:pt>
                <c:pt idx="4">
                  <c:v>40.2</c:v>
                </c:pt>
                <c:pt idx="5">
                  <c:v>43</c:v>
                </c:pt>
                <c:pt idx="6">
                  <c:v>43.8</c:v>
                </c:pt>
                <c:pt idx="7">
                  <c:v>45.9</c:v>
                </c:pt>
                <c:pt idx="8">
                  <c:v>47.3</c:v>
                </c:pt>
                <c:pt idx="9">
                  <c:v>48.1</c:v>
                </c:pt>
              </c:numCache>
            </c:numRef>
          </c:val>
        </c:ser>
        <c:dLbls>
          <c:numFmt formatCode="0.0&quot;%&quot;" sourceLinked="0"/>
          <c:txPr>
            <a:bodyPr/>
            <a:lstStyle/>
            <a:p>
              <a:pPr>
                <a:defRPr b="0" i="0" strike="noStrike" sz="1200" u="none">
                  <a:solidFill>
                    <a:srgbClr val="1725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52E"/>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b"/>
        <c:majorGridlines>
          <c:spPr>
            <a:ln w="9525" cap="flat">
              <a:solidFill>
                <a:srgbClr val="D9E2E5"/>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954"/>
                </a:solidFill>
                <a:latin typeface="+mn-lt"/>
              </a:defRPr>
            </a:pPr>
            <a:r>
              <a:rPr sz="1400" b="0" i="0" u="none" strike="noStrike">
                <a:solidFill>
                  <a:srgbClr val="0B3954"/>
                </a:solidFill>
                <a:latin typeface="+mn-lt"/>
              </a:rPr>
              <a:t>Grip effort needed rises with each level (Webcam + EMG)</a:t>
            </a:r>
          </a:p>
        </c:rich>
      </c:tx>
      <c:layout/>
      <c:overlay val="0"/>
    </c:title>
    <c:autoTitleDeleted val="0"/>
    <c:plotArea>
      <c:layout/>
      <c:barChart>
        <c:barDir val="col"/>
        <c:grouping val="clustered"/>
        <c:varyColors val="0"/>
        <c:ser>
          <c:idx val="0"/>
          <c:order val="0"/>
          <c:tx>
            <c:strRef>
              <c:f>Sheet1!$B$1</c:f>
              <c:strCache>
                <c:ptCount val="1"/>
                <c:pt idx="0">
                  <c:v>Grip effort needed (%)</c:v>
                </c:pt>
              </c:strCache>
            </c:strRef>
          </c:tx>
          <c:spPr>
            <a:solidFill>
              <a:srgbClr val="E4572E"/>
            </a:solidFill>
            <a:effectLst/>
          </c:spPr>
          <c:invertIfNegative val="0"/>
          <c:dLbls>
            <c:numFmt formatCode="0.0&quot;%&quot;" sourceLinked="0"/>
            <c:txPr>
              <a:bodyPr/>
              <a:lstStyle/>
              <a:p>
                <a:pPr>
                  <a:defRPr b="0" i="0" strike="noStrike" sz="1200" u="none">
                    <a:solidFill>
                      <a:srgbClr val="17252E"/>
                    </a:solidFill>
                    <a:latin typeface="+mn-lt"/>
                  </a:defRPr>
                </a:pPr>
              </a:p>
            </c:txPr>
            <c:showLegendKey val="0"/>
            <c:showVal val="1"/>
            <c:showCatName val="0"/>
            <c:showSerName val="0"/>
            <c:showPercent val="0"/>
            <c:showBubbleSize val="0"/>
            <c:showLeaderLines val="0"/>
          </c:dLbls>
          <c:cat>
            <c:multiLvlStrRef>
              <c:f>Sheet1!$A$2:$A$8</c:f>
              <c:multiLvlStrCache>
                <c:ptCount val="7"/>
                <c:lvl>
                  <c:pt idx="0">
                    <c:v>Level 1</c:v>
                  </c:pt>
                  <c:pt idx="1">
                    <c:v>Level 2</c:v>
                  </c:pt>
                  <c:pt idx="2">
                    <c:v>Level 3</c:v>
                  </c:pt>
                  <c:pt idx="3">
                    <c:v>Level 4</c:v>
                  </c:pt>
                  <c:pt idx="4">
                    <c:v>Level 5</c:v>
                  </c:pt>
                  <c:pt idx="5">
                    <c:v>Level 6</c:v>
                  </c:pt>
                  <c:pt idx="6">
                    <c:v>Level 7</c:v>
                  </c:pt>
                </c:lvl>
              </c:multiLvlStrCache>
            </c:multiLvlStrRef>
          </c:cat>
          <c:val>
            <c:numRef>
              <c:f>Sheet1!$B$2:$B$8</c:f>
              <c:numCache>
                <c:formatCode>General</c:formatCode>
                <c:ptCount val="7"/>
                <c:pt idx="0">
                  <c:v>25</c:v>
                </c:pt>
                <c:pt idx="1">
                  <c:v>30.8</c:v>
                </c:pt>
                <c:pt idx="2">
                  <c:v>36.7</c:v>
                </c:pt>
                <c:pt idx="3">
                  <c:v>42.5</c:v>
                </c:pt>
                <c:pt idx="4">
                  <c:v>48.3</c:v>
                </c:pt>
                <c:pt idx="5">
                  <c:v>54.2</c:v>
                </c:pt>
                <c:pt idx="6">
                  <c:v>60</c:v>
                </c:pt>
              </c:numCache>
            </c:numRef>
          </c:val>
        </c:ser>
        <c:dLbls>
          <c:numFmt formatCode="0.0&quot;%&quot;" sourceLinked="0"/>
          <c:txPr>
            <a:bodyPr/>
            <a:lstStyle/>
            <a:p>
              <a:pPr>
                <a:defRPr b="0" i="0" strike="noStrike" sz="1200" u="none">
                  <a:solidFill>
                    <a:srgbClr val="17252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52E"/>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D9E2E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year project presentation. Results quoted in this deck are from the offline experiments on healthy volunteers (docs/model_comparison.md, runs of 2026-10-21). No stroke patient data are presented as clinical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path: the MD0437 EMG module and ESP32 stream samples over USB serial; the EMG thread makes 200 ms feature windows and, in Webcam + EMG mode, a grip effort percentage from the patient's relax-then-squeeze check. The vision thread runs MediaPipe and rules for seven gestures. The fusion engine combines the latest camera label and EMG features every 50 ms. Games upload sessions to the FastAPI + SQLite backend (or an offline queue), and the RehabHub dashboard launches games and shows progress. Offline path: the recorded dataset was used to compare LDA, SVM, random forest, MOMENT-1 and LoRA; the result led to the design choice that the camera decides the movement and EMG measures effort. Not built yet: login, patient-therapist messaging, Wi-Fi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are leave-one-subject-out accuracy over 7 movements on 8 healthy volunteers (S02-S09), from docs/model_comparison.md (runs of 2026-10-21, after the LoRA gradient fix). Classical models use 8 features: RMS, MAV, VAR, STD, PEAK, WL, ZC, SSC. LDA: 34.7% (200 ms) and 43.8% (5.12 s). SVM: 37.2% and 47.3%. Random forest: 34.0% and 40.2% on window features, 48.1% on frozen MOMENT-1 embeddings (best). MOMENT-1 untrained head: 14.2% (chance). Linear probe: 43.0%. LoRA: 45.9% LOSO, 48.7% on the holdout split (test S07-S09).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docs/model_comparison.md, leave-one-subject-out table (8 healthy volunteers, S02-S09). Window length mattered more than the model. Frozen MOMENT-1 features with a random forest gave the best result, 48.1% (macro F1 0.443). Healthy volunteers only; not a clinical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saved confusion matrix of the fine-tuned MOMENT-1 + LoRA model (run small_loso_20261021-192025), pooled over the 8 leave-one-subject-out folds; each row is a true movement and sums to 1. Its diagonal matches the per-movement recall in docs/model_comparison.md: Rest 65%, Hand_Open 82%, Hand_Close 74%, Left 31%, Right 21%, Up 17%, Down 26%. The best model overall (frozen MOMENT + random forest, 48.1%) has a similar pattern but its matrix is not saved in the repository. Healthy volunteers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value on this slide is a rule from the game code, not a measured result. Effort needed per level: src/games/effort.py AUTO_RANGE (25, 60) interpolated over the level difficulties in src/games/levels.py, giving 25.0, 30.8, 36.7, 42.5, 48.3, 54.2, 60.0 percent. Effort percentage formula: effort_pct in src/games/effort.py; rest is the median RMS while relaxed and the strongest squeeze is the 90th percentile RMS while squeezing. Stars: src/games/summary.py (3 stars at 80% accuracy or more, 2 at 50% or more). Auto difficulty: src/games/difficulty.py (raise 0.5 at 80% or more of the last 6 attempts, lower 0.5 at 40% or less). The level progress text is the on-screen example from docs/games.md.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40480"/>
            <a:ext cx="1069848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Gamified Upper Limb Stroke Rehabilitation  |  SLTC Final Year Project</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737360"/>
          </a:xfrm>
          <a:prstGeom prst="rect">
            <a:avLst/>
          </a:prstGeom>
          <a:noFill/>
          <a:ln/>
        </p:spPr>
        <p:txBody>
          <a:bodyPr wrap="square" rtlCol="0" anchor="b"/>
          <a:lstStyle/>
          <a:p>
            <a:pPr algn="l" indent="0" marL="0">
              <a:buNone/>
            </a:pPr>
            <a:r>
              <a:rPr lang="en-US" sz="4000" b="1" dirty="0">
                <a:solidFill>
                  <a:schemeClr val="bg1"/>
                </a:solidFill>
              </a:rPr>
              <a:t>Gamified Upper Limb Stroke Rehabilitation System</a:t>
            </a:r>
            <a:endParaRPr lang="en-US" sz="4000" dirty="0"/>
          </a:p>
        </p:txBody>
      </p:sp>
      <p:sp>
        <p:nvSpPr>
          <p:cNvPr id="3" name="Text 0"/>
          <p:cNvSpPr/>
          <p:nvPr>
            <p:ph idx="101" type="body" hasCustomPrompt="1"/>
          </p:nvPr>
        </p:nvSpPr>
        <p:spPr>
          <a:xfrm>
            <a:off x="731520" y="3840480"/>
            <a:ext cx="10698480" cy="1463040"/>
          </a:xfrm>
          <a:prstGeom prst="rect">
            <a:avLst/>
          </a:prstGeom>
          <a:noFill/>
          <a:ln/>
        </p:spPr>
        <p:txBody>
          <a:bodyPr wrap="square" rtlCol="0" anchor="t"/>
          <a:lstStyle/>
          <a:p>
            <a:pPr indent="0" marL="0">
              <a:buNone/>
            </a:pPr>
            <a:r>
              <a:rPr lang="en-US" sz="1800" dirty="0">
                <a:solidFill>
                  <a:schemeClr val="bg2"/>
                </a:solidFill>
              </a:rPr>
              <a:t>Webcam hand tracking, single channel EMG, four rehabilitation games and a physiotherapist dashboard</a:t>
            </a:r>
            <a:endParaRPr lang="en-US" sz="1800" dirty="0"/>
          </a:p>
          <a:p>
            <a:pPr indent="0" marL="0">
              <a:buNone/>
            </a:pPr>
            <a:r>
              <a:rPr lang="en-US" sz="1400" dirty="0">
                <a:solidFill>
                  <a:schemeClr val="bg2"/>
                </a:solidFill>
              </a:rPr>
              <a:t>M. Imzan, M. Atheeq, D. Karunakalage, V. Herath  |  Sri Lanka Technology Campus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000" b="1" dirty="0">
                <a:solidFill>
                  <a:schemeClr val="tx2"/>
                </a:solidFill>
              </a:rPr>
              <a:t>Architecture: the camera decides, EMG measures effort</a:t>
            </a:r>
            <a:endParaRPr lang="en-US" sz="3000" dirty="0"/>
          </a:p>
        </p:txBody>
      </p:sp>
      <p:sp>
        <p:nvSpPr>
          <p:cNvPr id="3" name="Text 1"/>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LIVE SYSTEM (one laptop)</a:t>
            </a:r>
            <a:endParaRPr lang="en-US" sz="1200" dirty="0"/>
          </a:p>
        </p:txBody>
      </p:sp>
      <p:sp>
        <p:nvSpPr>
          <p:cNvPr id="4" name="EMG sensor"/>
          <p:cNvSpPr/>
          <p:nvPr/>
        </p:nvSpPr>
        <p:spPr>
          <a:xfrm>
            <a:off x="548640" y="1600200"/>
            <a:ext cx="1965960" cy="1051560"/>
          </a:xfrm>
          <a:prstGeom prst="roundRect">
            <a:avLst>
              <a:gd name="adj" fmla="val 6957"/>
            </a:avLst>
          </a:prstGeom>
          <a:solidFill>
            <a:schemeClr val="accent2"/>
          </a:solidFill>
          <a:ln w="12700">
            <a:solidFill>
              <a:schemeClr val="accent2"/>
            </a:solidFill>
            <a:prstDash val="solid"/>
          </a:ln>
        </p:spPr>
      </p:sp>
      <p:sp>
        <p:nvSpPr>
          <p:cNvPr id="5" name="EMG sensor text"/>
          <p:cNvSpPr txBox="1"/>
          <p:nvPr/>
        </p:nvSpPr>
        <p:spPr>
          <a:xfrm>
            <a:off x="658368" y="1600200"/>
            <a:ext cx="1746504" cy="10515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EMG sensor + ESP32</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MD0437 envelope, GPIO34, 12-bit ADC</a:t>
            </a:r>
            <a:endParaRPr lang="en-US" sz="1500" dirty="0"/>
          </a:p>
        </p:txBody>
      </p:sp>
      <p:sp>
        <p:nvSpPr>
          <p:cNvPr id="6" name="Webcam"/>
          <p:cNvSpPr/>
          <p:nvPr/>
        </p:nvSpPr>
        <p:spPr>
          <a:xfrm>
            <a:off x="548640" y="2971800"/>
            <a:ext cx="1965960" cy="1051560"/>
          </a:xfrm>
          <a:prstGeom prst="roundRect">
            <a:avLst>
              <a:gd name="adj" fmla="val 6957"/>
            </a:avLst>
          </a:prstGeom>
          <a:solidFill>
            <a:schemeClr val="accent2"/>
          </a:solidFill>
          <a:ln w="12700">
            <a:solidFill>
              <a:schemeClr val="accent2"/>
            </a:solidFill>
            <a:prstDash val="solid"/>
          </a:ln>
        </p:spPr>
      </p:sp>
      <p:sp>
        <p:nvSpPr>
          <p:cNvPr id="7" name="Webcam text"/>
          <p:cNvSpPr txBox="1"/>
          <p:nvPr/>
        </p:nvSpPr>
        <p:spPr>
          <a:xfrm>
            <a:off x="658368" y="2971800"/>
            <a:ext cx="1746504" cy="10515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Webcam</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OpenCV frames, about 30 fps</a:t>
            </a:r>
            <a:endParaRPr lang="en-US" sz="1500" dirty="0"/>
          </a:p>
        </p:txBody>
      </p:sp>
      <p:sp>
        <p:nvSpPr>
          <p:cNvPr id="8" name="EMG pipeline"/>
          <p:cNvSpPr/>
          <p:nvPr/>
        </p:nvSpPr>
        <p:spPr>
          <a:xfrm>
            <a:off x="2971800" y="1600200"/>
            <a:ext cx="2148840" cy="1051560"/>
          </a:xfrm>
          <a:prstGeom prst="roundRect">
            <a:avLst>
              <a:gd name="adj" fmla="val 6957"/>
            </a:avLst>
          </a:prstGeom>
          <a:solidFill>
            <a:schemeClr val="accent1"/>
          </a:solidFill>
          <a:ln w="12700">
            <a:solidFill>
              <a:schemeClr val="accent1"/>
            </a:solidFill>
            <a:prstDash val="solid"/>
          </a:ln>
        </p:spPr>
      </p:sp>
      <p:sp>
        <p:nvSpPr>
          <p:cNvPr id="9" name="EMG pipeline text"/>
          <p:cNvSpPr txBox="1"/>
          <p:nvPr/>
        </p:nvSpPr>
        <p:spPr>
          <a:xfrm>
            <a:off x="3081528" y="1600200"/>
            <a:ext cx="1929384" cy="10515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EMG processing</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200 ms windows, 8 features, grip effort %</a:t>
            </a:r>
            <a:endParaRPr lang="en-US" sz="1500" dirty="0"/>
          </a:p>
        </p:txBody>
      </p:sp>
      <p:sp>
        <p:nvSpPr>
          <p:cNvPr id="10" name="Computer vision"/>
          <p:cNvSpPr/>
          <p:nvPr/>
        </p:nvSpPr>
        <p:spPr>
          <a:xfrm>
            <a:off x="2971800" y="2971800"/>
            <a:ext cx="2148840" cy="1051560"/>
          </a:xfrm>
          <a:prstGeom prst="roundRect">
            <a:avLst>
              <a:gd name="adj" fmla="val 6957"/>
            </a:avLst>
          </a:prstGeom>
          <a:solidFill>
            <a:schemeClr val="accent1"/>
          </a:solidFill>
          <a:ln w="12700">
            <a:solidFill>
              <a:schemeClr val="accent1"/>
            </a:solidFill>
            <a:prstDash val="solid"/>
          </a:ln>
        </p:spPr>
      </p:sp>
      <p:sp>
        <p:nvSpPr>
          <p:cNvPr id="11" name="Computer vision text"/>
          <p:cNvSpPr txBox="1"/>
          <p:nvPr/>
        </p:nvSpPr>
        <p:spPr>
          <a:xfrm>
            <a:off x="3081528" y="2971800"/>
            <a:ext cx="1929384" cy="10515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Computer vision</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MediaPipe 21 landmarks, 7 gestures</a:t>
            </a:r>
            <a:endParaRPr lang="en-US" sz="1500" dirty="0"/>
          </a:p>
        </p:txBody>
      </p:sp>
      <p:sp>
        <p:nvSpPr>
          <p:cNvPr id="12" name="Fusion"/>
          <p:cNvSpPr/>
          <p:nvPr/>
        </p:nvSpPr>
        <p:spPr>
          <a:xfrm>
            <a:off x="5532120" y="2057400"/>
            <a:ext cx="1691640" cy="1508760"/>
          </a:xfrm>
          <a:prstGeom prst="roundRect">
            <a:avLst>
              <a:gd name="adj" fmla="val 4848"/>
            </a:avLst>
          </a:prstGeom>
          <a:solidFill>
            <a:schemeClr val="tx2"/>
          </a:solidFill>
          <a:ln w="12700">
            <a:solidFill>
              <a:schemeClr val="tx2"/>
            </a:solidFill>
            <a:prstDash val="solid"/>
          </a:ln>
        </p:spPr>
      </p:sp>
      <p:sp>
        <p:nvSpPr>
          <p:cNvPr id="13" name="Fusion text"/>
          <p:cNvSpPr txBox="1"/>
          <p:nvPr/>
        </p:nvSpPr>
        <p:spPr>
          <a:xfrm>
            <a:off x="5641848" y="2057400"/>
            <a:ext cx="1472184" cy="1508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Fusion engine</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camera label + latest EMG, every 50 ms</a:t>
            </a:r>
            <a:endParaRPr lang="en-US" sz="1500" dirty="0"/>
          </a:p>
        </p:txBody>
      </p:sp>
      <p:sp>
        <p:nvSpPr>
          <p:cNvPr id="14" name="Games"/>
          <p:cNvSpPr/>
          <p:nvPr/>
        </p:nvSpPr>
        <p:spPr>
          <a:xfrm>
            <a:off x="7635240" y="2057400"/>
            <a:ext cx="1828800" cy="1508760"/>
          </a:xfrm>
          <a:prstGeom prst="roundRect">
            <a:avLst>
              <a:gd name="adj" fmla="val 4848"/>
            </a:avLst>
          </a:prstGeom>
          <a:solidFill>
            <a:schemeClr val="accent3"/>
          </a:solidFill>
          <a:ln w="12700">
            <a:solidFill>
              <a:schemeClr val="accent3"/>
            </a:solidFill>
            <a:prstDash val="solid"/>
          </a:ln>
        </p:spPr>
      </p:sp>
      <p:sp>
        <p:nvSpPr>
          <p:cNvPr id="15" name="Games text"/>
          <p:cNvSpPr txBox="1"/>
          <p:nvPr/>
        </p:nvSpPr>
        <p:spPr>
          <a:xfrm>
            <a:off x="7744968" y="2057400"/>
            <a:ext cx="1609344" cy="1508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Rehab games</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4 games, 7 levels, grip-effort gate</a:t>
            </a:r>
            <a:endParaRPr lang="en-US" sz="1500" dirty="0"/>
          </a:p>
        </p:txBody>
      </p:sp>
      <p:sp>
        <p:nvSpPr>
          <p:cNvPr id="16" name="Backend"/>
          <p:cNvSpPr/>
          <p:nvPr/>
        </p:nvSpPr>
        <p:spPr>
          <a:xfrm>
            <a:off x="9875520" y="1600200"/>
            <a:ext cx="1783080" cy="1051560"/>
          </a:xfrm>
          <a:prstGeom prst="roundRect">
            <a:avLst>
              <a:gd name="adj" fmla="val 6957"/>
            </a:avLst>
          </a:prstGeom>
          <a:solidFill>
            <a:schemeClr val="accent4"/>
          </a:solidFill>
          <a:ln w="12700">
            <a:solidFill>
              <a:schemeClr val="accent4"/>
            </a:solidFill>
            <a:prstDash val="solid"/>
          </a:ln>
        </p:spPr>
      </p:sp>
      <p:sp>
        <p:nvSpPr>
          <p:cNvPr id="17" name="Backend text"/>
          <p:cNvSpPr txBox="1"/>
          <p:nvPr/>
        </p:nvSpPr>
        <p:spPr>
          <a:xfrm>
            <a:off x="9985248" y="1600200"/>
            <a:ext cx="1563624" cy="10515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Backend</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FastAPI + SQLite, offline queue</a:t>
            </a:r>
            <a:endParaRPr lang="en-US" sz="1500" dirty="0"/>
          </a:p>
        </p:txBody>
      </p:sp>
      <p:sp>
        <p:nvSpPr>
          <p:cNvPr id="18" name="Dashboard"/>
          <p:cNvSpPr/>
          <p:nvPr/>
        </p:nvSpPr>
        <p:spPr>
          <a:xfrm>
            <a:off x="9875520" y="2971800"/>
            <a:ext cx="1783080" cy="1051560"/>
          </a:xfrm>
          <a:prstGeom prst="roundRect">
            <a:avLst>
              <a:gd name="adj" fmla="val 6957"/>
            </a:avLst>
          </a:prstGeom>
          <a:solidFill>
            <a:schemeClr val="accent4"/>
          </a:solidFill>
          <a:ln w="12700">
            <a:solidFill>
              <a:schemeClr val="accent4"/>
            </a:solidFill>
            <a:prstDash val="solid"/>
          </a:ln>
        </p:spPr>
      </p:sp>
      <p:sp>
        <p:nvSpPr>
          <p:cNvPr id="19" name="Dashboard text"/>
          <p:cNvSpPr txBox="1"/>
          <p:nvPr/>
        </p:nvSpPr>
        <p:spPr>
          <a:xfrm>
            <a:off x="9985248" y="2971800"/>
            <a:ext cx="1563624" cy="10515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Dashboard</a:t>
            </a:r>
            <a:endParaRPr lang="en-US" sz="1500" dirty="0"/>
          </a:p>
          <a:p>
            <a:pPr algn="ctr" indent="0" marL="0">
              <a:buNone/>
            </a:pPr>
            <a:r>
              <a:rPr lang="en-US" sz="1200" dirty="0">
                <a:solidFill>
                  <a:schemeClr val="bg1"/>
                </a:solidFill>
                <a:latin typeface="Calibri" pitchFamily="34" charset="0"/>
                <a:ea typeface="Calibri" pitchFamily="34" charset="-122"/>
                <a:cs typeface="Calibri" pitchFamily="34" charset="-120"/>
              </a:rPr>
              <a:t>RehabHub (React) for the physiotherapist</a:t>
            </a:r>
            <a:endParaRPr lang="en-US" sz="1500" dirty="0"/>
          </a:p>
        </p:txBody>
      </p:sp>
      <p:sp>
        <p:nvSpPr>
          <p:cNvPr id="20" name="a1"/>
          <p:cNvSpPr/>
          <p:nvPr/>
        </p:nvSpPr>
        <p:spPr>
          <a:xfrm>
            <a:off x="2514600" y="2130552"/>
            <a:ext cx="457200" cy="91"/>
          </a:xfrm>
          <a:prstGeom prst="line">
            <a:avLst/>
          </a:prstGeom>
          <a:noFill/>
          <a:ln w="22225">
            <a:solidFill>
              <a:srgbClr val="5C6B73"/>
            </a:solidFill>
            <a:prstDash val="solid"/>
            <a:tailEnd type="triangle"/>
          </a:ln>
        </p:spPr>
      </p:sp>
      <p:sp>
        <p:nvSpPr>
          <p:cNvPr id="21" name="a2"/>
          <p:cNvSpPr/>
          <p:nvPr/>
        </p:nvSpPr>
        <p:spPr>
          <a:xfrm>
            <a:off x="2514600" y="3502152"/>
            <a:ext cx="457200" cy="91"/>
          </a:xfrm>
          <a:prstGeom prst="line">
            <a:avLst/>
          </a:prstGeom>
          <a:noFill/>
          <a:ln w="22225">
            <a:solidFill>
              <a:srgbClr val="5C6B73"/>
            </a:solidFill>
            <a:prstDash val="solid"/>
            <a:tailEnd type="triangle"/>
          </a:ln>
        </p:spPr>
      </p:sp>
      <p:sp>
        <p:nvSpPr>
          <p:cNvPr id="22" name="a3"/>
          <p:cNvSpPr/>
          <p:nvPr/>
        </p:nvSpPr>
        <p:spPr>
          <a:xfrm>
            <a:off x="5120640" y="2130552"/>
            <a:ext cx="411480" cy="384048"/>
          </a:xfrm>
          <a:prstGeom prst="line">
            <a:avLst/>
          </a:prstGeom>
          <a:noFill/>
          <a:ln w="22225">
            <a:solidFill>
              <a:srgbClr val="5C6B73"/>
            </a:solidFill>
            <a:prstDash val="solid"/>
            <a:tailEnd type="triangle"/>
          </a:ln>
        </p:spPr>
      </p:sp>
      <p:sp>
        <p:nvSpPr>
          <p:cNvPr id="23" name="a4"/>
          <p:cNvSpPr/>
          <p:nvPr/>
        </p:nvSpPr>
        <p:spPr>
          <a:xfrm flipV="1">
            <a:off x="5120640" y="3108960"/>
            <a:ext cx="411480" cy="393192"/>
          </a:xfrm>
          <a:prstGeom prst="line">
            <a:avLst/>
          </a:prstGeom>
          <a:noFill/>
          <a:ln w="22225">
            <a:solidFill>
              <a:srgbClr val="5C6B73"/>
            </a:solidFill>
            <a:prstDash val="solid"/>
            <a:tailEnd type="triangle"/>
          </a:ln>
        </p:spPr>
      </p:sp>
      <p:sp>
        <p:nvSpPr>
          <p:cNvPr id="24" name="a5"/>
          <p:cNvSpPr/>
          <p:nvPr/>
        </p:nvSpPr>
        <p:spPr>
          <a:xfrm>
            <a:off x="7223760" y="2816352"/>
            <a:ext cx="411480" cy="91"/>
          </a:xfrm>
          <a:prstGeom prst="line">
            <a:avLst/>
          </a:prstGeom>
          <a:noFill/>
          <a:ln w="22225">
            <a:solidFill>
              <a:srgbClr val="5C6B73"/>
            </a:solidFill>
            <a:prstDash val="solid"/>
            <a:tailEnd type="triangle"/>
          </a:ln>
        </p:spPr>
      </p:sp>
      <p:sp>
        <p:nvSpPr>
          <p:cNvPr id="25" name="a6"/>
          <p:cNvSpPr/>
          <p:nvPr/>
        </p:nvSpPr>
        <p:spPr>
          <a:xfrm flipV="1">
            <a:off x="9464040" y="2130552"/>
            <a:ext cx="411480" cy="384048"/>
          </a:xfrm>
          <a:prstGeom prst="line">
            <a:avLst/>
          </a:prstGeom>
          <a:noFill/>
          <a:ln w="22225">
            <a:solidFill>
              <a:srgbClr val="5C6B73"/>
            </a:solidFill>
            <a:prstDash val="solid"/>
            <a:tailEnd type="triangle"/>
          </a:ln>
        </p:spPr>
      </p:sp>
      <p:sp>
        <p:nvSpPr>
          <p:cNvPr id="26" name="a7"/>
          <p:cNvSpPr/>
          <p:nvPr/>
        </p:nvSpPr>
        <p:spPr>
          <a:xfrm flipV="1">
            <a:off x="10771632" y="2651760"/>
            <a:ext cx="91" cy="320040"/>
          </a:xfrm>
          <a:prstGeom prst="line">
            <a:avLst/>
          </a:prstGeom>
          <a:noFill/>
          <a:ln w="22225">
            <a:solidFill>
              <a:srgbClr val="5C6B73"/>
            </a:solidFill>
            <a:prstDash val="solid"/>
            <a:tailEnd type="triangle"/>
          </a:ln>
        </p:spPr>
      </p:sp>
      <p:sp>
        <p:nvSpPr>
          <p:cNvPr id="27" name="a8"/>
          <p:cNvSpPr/>
          <p:nvPr/>
        </p:nvSpPr>
        <p:spPr>
          <a:xfrm flipH="1" flipV="1">
            <a:off x="9464040" y="3108960"/>
            <a:ext cx="411480" cy="182880"/>
          </a:xfrm>
          <a:prstGeom prst="line">
            <a:avLst/>
          </a:prstGeom>
          <a:noFill/>
          <a:ln w="22225">
            <a:solidFill>
              <a:srgbClr val="5C6B73"/>
            </a:solidFill>
            <a:prstDash val="solid"/>
            <a:tailEnd type="triangle"/>
          </a:ln>
        </p:spPr>
      </p:sp>
      <p:sp>
        <p:nvSpPr>
          <p:cNvPr id="28" name="Text 26"/>
          <p:cNvSpPr txBox="1"/>
          <p:nvPr/>
        </p:nvSpPr>
        <p:spPr>
          <a:xfrm>
            <a:off x="548640" y="2679192"/>
            <a:ext cx="2377440" cy="22860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USB serial, 921600 baud</a:t>
            </a:r>
            <a:endParaRPr lang="en-US" sz="1000" dirty="0"/>
          </a:p>
        </p:txBody>
      </p:sp>
      <p:sp>
        <p:nvSpPr>
          <p:cNvPr id="29" name="Offline band"/>
          <p:cNvSpPr/>
          <p:nvPr/>
        </p:nvSpPr>
        <p:spPr>
          <a:xfrm>
            <a:off x="548640" y="4434840"/>
            <a:ext cx="11109960" cy="1783080"/>
          </a:xfrm>
          <a:prstGeom prst="roundRect">
            <a:avLst>
              <a:gd name="adj" fmla="val 4103"/>
            </a:avLst>
          </a:prstGeom>
          <a:solidFill>
            <a:schemeClr val="bg2"/>
          </a:solidFill>
          <a:ln w="15875">
            <a:solidFill>
              <a:srgbClr val="6A4C93"/>
            </a:solidFill>
            <a:prstDash val="dash"/>
          </a:ln>
        </p:spPr>
      </p:sp>
      <p:sp>
        <p:nvSpPr>
          <p:cNvPr id="30" name="Text 28"/>
          <p:cNvSpPr txBox="1"/>
          <p:nvPr/>
        </p:nvSpPr>
        <p:spPr>
          <a:xfrm>
            <a:off x="777240" y="4526280"/>
            <a:ext cx="6400800" cy="274320"/>
          </a:xfrm>
          <a:prstGeom prst="rect">
            <a:avLst/>
          </a:prstGeom>
          <a:noFill/>
          <a:ln/>
        </p:spPr>
        <p:txBody>
          <a:bodyPr wrap="square" lIns="0" tIns="0" rIns="0" bIns="0" rtlCol="0" anchor="ctr"/>
          <a:lstStyle/>
          <a:p>
            <a:pPr indent="0" marL="0">
              <a:buNone/>
            </a:pPr>
            <a:r>
              <a:rPr lang="en-US" sz="1200" b="1" dirty="0">
                <a:solidFill>
                  <a:schemeClr val="accent6"/>
                </a:solidFill>
                <a:latin typeface="Calibri" pitchFamily="34" charset="0"/>
                <a:ea typeface="Calibri" pitchFamily="34" charset="-122"/>
                <a:cs typeface="Calibri" pitchFamily="34" charset="-120"/>
              </a:rPr>
              <a:t>OFFLINE RESEARCH (not used to control the games)</a:t>
            </a:r>
            <a:endParaRPr lang="en-US" sz="1200" dirty="0"/>
          </a:p>
        </p:txBody>
      </p:sp>
      <p:sp>
        <p:nvSpPr>
          <p:cNvPr id="31" name="Dataset"/>
          <p:cNvSpPr/>
          <p:nvPr/>
        </p:nvSpPr>
        <p:spPr>
          <a:xfrm>
            <a:off x="777240" y="4892040"/>
            <a:ext cx="3017520" cy="1143000"/>
          </a:xfrm>
          <a:prstGeom prst="roundRect">
            <a:avLst>
              <a:gd name="adj" fmla="val 6400"/>
            </a:avLst>
          </a:prstGeom>
          <a:solidFill>
            <a:schemeClr val="bg1"/>
          </a:solidFill>
          <a:ln w="12700">
            <a:solidFill>
              <a:srgbClr val="6A4C93"/>
            </a:solidFill>
            <a:prstDash val="solid"/>
          </a:ln>
        </p:spPr>
      </p:sp>
      <p:sp>
        <p:nvSpPr>
          <p:cNvPr id="32" name="Dataset text"/>
          <p:cNvSpPr txBox="1"/>
          <p:nvPr/>
        </p:nvSpPr>
        <p:spPr>
          <a:xfrm>
            <a:off x="914400" y="4892040"/>
            <a:ext cx="2743200" cy="1143000"/>
          </a:xfrm>
          <a:prstGeom prst="rect">
            <a:avLst/>
          </a:prstGeom>
          <a:noFill/>
          <a:ln/>
        </p:spPr>
        <p:txBody>
          <a:bodyPr wrap="square" lIns="0" tIns="0" rIns="0" bIns="0" rtlCol="0" anchor="ctr"/>
          <a:lstStyle/>
          <a:p>
            <a:pPr indent="0" marL="0">
              <a:buNone/>
            </a:pPr>
            <a:r>
              <a:rPr lang="en-US" sz="1400" b="1" dirty="0">
                <a:solidFill>
                  <a:schemeClr val="accent6"/>
                </a:solidFill>
                <a:latin typeface="Calibri" pitchFamily="34" charset="0"/>
                <a:ea typeface="Calibri" pitchFamily="34" charset="-122"/>
                <a:cs typeface="Calibri" pitchFamily="34" charset="-120"/>
              </a:rPr>
              <a:t>EMG dataset</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Healthy volunteers, 7 labelled movements, 100 Hz</a:t>
            </a:r>
            <a:endParaRPr lang="en-US" sz="1400" dirty="0"/>
          </a:p>
        </p:txBody>
      </p:sp>
      <p:sp>
        <p:nvSpPr>
          <p:cNvPr id="33" name="ML"/>
          <p:cNvSpPr/>
          <p:nvPr/>
        </p:nvSpPr>
        <p:spPr>
          <a:xfrm>
            <a:off x="4206240" y="4892040"/>
            <a:ext cx="3520440" cy="1143000"/>
          </a:xfrm>
          <a:prstGeom prst="roundRect">
            <a:avLst>
              <a:gd name="adj" fmla="val 6400"/>
            </a:avLst>
          </a:prstGeom>
          <a:solidFill>
            <a:schemeClr val="bg1"/>
          </a:solidFill>
          <a:ln w="12700">
            <a:solidFill>
              <a:srgbClr val="6A4C93"/>
            </a:solidFill>
            <a:prstDash val="solid"/>
          </a:ln>
        </p:spPr>
      </p:sp>
      <p:sp>
        <p:nvSpPr>
          <p:cNvPr id="34" name="ML text"/>
          <p:cNvSpPr txBox="1"/>
          <p:nvPr/>
        </p:nvSpPr>
        <p:spPr>
          <a:xfrm>
            <a:off x="4343400" y="4892040"/>
            <a:ext cx="3246120" cy="1143000"/>
          </a:xfrm>
          <a:prstGeom prst="rect">
            <a:avLst/>
          </a:prstGeom>
          <a:noFill/>
          <a:ln/>
        </p:spPr>
        <p:txBody>
          <a:bodyPr wrap="square" lIns="0" tIns="0" rIns="0" bIns="0" rtlCol="0" anchor="ctr"/>
          <a:lstStyle/>
          <a:p>
            <a:pPr indent="0" marL="0">
              <a:buNone/>
            </a:pPr>
            <a:r>
              <a:rPr lang="en-US" sz="1400" b="1" dirty="0">
                <a:solidFill>
                  <a:schemeClr val="accent6"/>
                </a:solidFill>
                <a:latin typeface="Calibri" pitchFamily="34" charset="0"/>
                <a:ea typeface="Calibri" pitchFamily="34" charset="-122"/>
                <a:cs typeface="Calibri" pitchFamily="34" charset="-120"/>
              </a:rPr>
              <a:t>Machine learning</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LDA, SVM, random forest, MOMENT-1, LoRA</a:t>
            </a:r>
            <a:endParaRPr lang="en-US" sz="1400" dirty="0"/>
          </a:p>
        </p:txBody>
      </p:sp>
      <p:sp>
        <p:nvSpPr>
          <p:cNvPr id="35" name="Finding"/>
          <p:cNvSpPr/>
          <p:nvPr/>
        </p:nvSpPr>
        <p:spPr>
          <a:xfrm>
            <a:off x="8138160" y="4892040"/>
            <a:ext cx="3291840" cy="1143000"/>
          </a:xfrm>
          <a:prstGeom prst="roundRect">
            <a:avLst>
              <a:gd name="adj" fmla="val 6400"/>
            </a:avLst>
          </a:prstGeom>
          <a:solidFill>
            <a:schemeClr val="bg1"/>
          </a:solidFill>
          <a:ln w="12700">
            <a:solidFill>
              <a:srgbClr val="6A4C93"/>
            </a:solidFill>
            <a:prstDash val="solid"/>
          </a:ln>
        </p:spPr>
      </p:sp>
      <p:sp>
        <p:nvSpPr>
          <p:cNvPr id="36" name="Finding text"/>
          <p:cNvSpPr txBox="1"/>
          <p:nvPr/>
        </p:nvSpPr>
        <p:spPr>
          <a:xfrm>
            <a:off x="8275320" y="4892040"/>
            <a:ext cx="3017520" cy="1143000"/>
          </a:xfrm>
          <a:prstGeom prst="rect">
            <a:avLst/>
          </a:prstGeom>
          <a:noFill/>
          <a:ln/>
        </p:spPr>
        <p:txBody>
          <a:bodyPr wrap="square" lIns="0" tIns="0" rIns="0" bIns="0" rtlCol="0" anchor="ctr"/>
          <a:lstStyle/>
          <a:p>
            <a:pPr indent="0" marL="0">
              <a:buNone/>
            </a:pPr>
            <a:r>
              <a:rPr lang="en-US" sz="1400" b="1" dirty="0">
                <a:solidFill>
                  <a:schemeClr val="accent6"/>
                </a:solidFill>
                <a:latin typeface="Calibri" pitchFamily="34" charset="0"/>
                <a:ea typeface="Calibri" pitchFamily="34" charset="-122"/>
                <a:cs typeface="Calibri" pitchFamily="34" charset="-120"/>
              </a:rPr>
              <a:t>Design decision</a:t>
            </a:r>
            <a:endParaRPr lang="en-US" sz="1400" dirty="0"/>
          </a:p>
          <a:p>
            <a:pPr indent="0" marL="0">
              <a:buNone/>
            </a:pPr>
            <a:r>
              <a:rPr lang="en-US" sz="1200" dirty="0">
                <a:solidFill>
                  <a:schemeClr val="tx1"/>
                </a:solidFill>
                <a:latin typeface="Calibri" pitchFamily="34" charset="0"/>
                <a:ea typeface="Calibri" pitchFamily="34" charset="-122"/>
                <a:cs typeface="Calibri" pitchFamily="34" charset="-120"/>
              </a:rPr>
              <a:t>One EMG channel separates effort, not direction</a:t>
            </a:r>
            <a:endParaRPr lang="en-US" sz="1400" dirty="0"/>
          </a:p>
        </p:txBody>
      </p:sp>
      <p:sp>
        <p:nvSpPr>
          <p:cNvPr id="37" name="b1"/>
          <p:cNvSpPr/>
          <p:nvPr/>
        </p:nvSpPr>
        <p:spPr>
          <a:xfrm>
            <a:off x="3794760" y="5468112"/>
            <a:ext cx="411480" cy="91"/>
          </a:xfrm>
          <a:prstGeom prst="line">
            <a:avLst/>
          </a:prstGeom>
          <a:noFill/>
          <a:ln w="19050">
            <a:solidFill>
              <a:srgbClr val="6A4C93"/>
            </a:solidFill>
            <a:prstDash val="solid"/>
            <a:tailEnd type="triangle"/>
          </a:ln>
        </p:spPr>
      </p:sp>
      <p:sp>
        <p:nvSpPr>
          <p:cNvPr id="38" name="b2"/>
          <p:cNvSpPr/>
          <p:nvPr/>
        </p:nvSpPr>
        <p:spPr>
          <a:xfrm>
            <a:off x="7726680" y="5468112"/>
            <a:ext cx="411480" cy="91"/>
          </a:xfrm>
          <a:prstGeom prst="line">
            <a:avLst/>
          </a:prstGeom>
          <a:noFill/>
          <a:ln w="19050">
            <a:solidFill>
              <a:srgbClr val="6A4C93"/>
            </a:solidFill>
            <a:prstDash val="solid"/>
            <a:tailEnd type="triangle"/>
          </a:ln>
        </p:spPr>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000" b="1" dirty="0">
                <a:solidFill>
                  <a:schemeClr val="tx2"/>
                </a:solidFill>
              </a:rPr>
              <a:t>AI and machine learning algorithms we compared</a:t>
            </a:r>
            <a:endParaRPr lang="en-US" sz="3000" dirty="0"/>
          </a:p>
        </p:txBody>
      </p:sp>
      <p:sp>
        <p:nvSpPr>
          <p:cNvPr id="3" name="Text 1"/>
          <p:cNvSpPr txBox="1"/>
          <p:nvPr/>
        </p:nvSpPr>
        <p:spPr>
          <a:xfrm>
            <a:off x="548640" y="1143000"/>
            <a:ext cx="11064240" cy="411480"/>
          </a:xfrm>
          <a:prstGeom prst="rect">
            <a:avLst/>
          </a:prstGeom>
          <a:noFill/>
          <a:ln/>
        </p:spPr>
        <p:txBody>
          <a:bodyPr wrap="square" lIns="0" tIns="0" rIns="0" bIns="0" rtlCol="0" anchor="ctr"/>
          <a:lstStyle/>
          <a:p>
            <a:pPr indent="0" marL="0">
              <a:buNone/>
            </a:pPr>
            <a:r>
              <a:rPr lang="en-US" sz="1500" dirty="0">
                <a:solidFill>
                  <a:schemeClr val="accent5"/>
                </a:solidFill>
                <a:latin typeface="Calibri" pitchFamily="34" charset="0"/>
                <a:ea typeface="Calibri" pitchFamily="34" charset="-122"/>
                <a:cs typeface="Calibri" pitchFamily="34" charset="-120"/>
              </a:rPr>
              <a:t>Each model classifies an EMG window into 7 movements. Tested leave-one-subject-out on 8 healthy volunteers (S02 to S09); chance = 14.3%.</a:t>
            </a:r>
            <a:endParaRPr lang="en-US" sz="1500" dirty="0"/>
          </a:p>
        </p:txBody>
      </p:sp>
      <p:sp>
        <p:nvSpPr>
          <p:cNvPr id="4" name="Linear Discriminant Analysis card"/>
          <p:cNvSpPr/>
          <p:nvPr/>
        </p:nvSpPr>
        <p:spPr>
          <a:xfrm>
            <a:off x="548640" y="1737360"/>
            <a:ext cx="2103120" cy="4434840"/>
          </a:xfrm>
          <a:prstGeom prst="roundRect">
            <a:avLst>
              <a:gd name="adj" fmla="val 3478"/>
            </a:avLst>
          </a:prstGeom>
          <a:solidFill>
            <a:schemeClr val="bg2"/>
          </a:solidFill>
          <a:ln w="12700">
            <a:solidFill>
              <a:schemeClr val="bg2"/>
            </a:solidFill>
            <a:prstDash val="solid"/>
          </a:ln>
        </p:spPr>
      </p:sp>
      <p:sp>
        <p:nvSpPr>
          <p:cNvPr id="5" name="Linear Discriminant Analysis badge"/>
          <p:cNvSpPr/>
          <p:nvPr/>
        </p:nvSpPr>
        <p:spPr>
          <a:xfrm>
            <a:off x="731520" y="1920240"/>
            <a:ext cx="685800" cy="685800"/>
          </a:xfrm>
          <a:prstGeom prst="ellipse">
            <a:avLst/>
          </a:prstGeom>
          <a:solidFill>
            <a:schemeClr val="accent1"/>
          </a:solidFill>
          <a:ln w="12700">
            <a:solidFill>
              <a:schemeClr val="accent1"/>
            </a:solidFill>
            <a:prstDash val="solid"/>
          </a:ln>
        </p:spPr>
      </p:sp>
      <p:sp>
        <p:nvSpPr>
          <p:cNvPr id="6" name="Linear Discriminant Analysis badge text"/>
          <p:cNvSpPr txBox="1"/>
          <p:nvPr/>
        </p:nvSpPr>
        <p:spPr>
          <a:xfrm>
            <a:off x="731520" y="1920240"/>
            <a:ext cx="685800" cy="6858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LDA</a:t>
            </a:r>
            <a:endParaRPr lang="en-US" sz="1500" dirty="0"/>
          </a:p>
        </p:txBody>
      </p:sp>
      <p:sp>
        <p:nvSpPr>
          <p:cNvPr id="7" name="Linear Discriminant Analysis name"/>
          <p:cNvSpPr txBox="1"/>
          <p:nvPr/>
        </p:nvSpPr>
        <p:spPr>
          <a:xfrm>
            <a:off x="731520" y="2697480"/>
            <a:ext cx="1737360" cy="5943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Linear Discriminant Analysis</a:t>
            </a:r>
            <a:endParaRPr lang="en-US" sz="1500" dirty="0"/>
          </a:p>
        </p:txBody>
      </p:sp>
      <p:sp>
        <p:nvSpPr>
          <p:cNvPr id="8" name="Linear Discriminant Analysis what"/>
          <p:cNvSpPr txBox="1"/>
          <p:nvPr/>
        </p:nvSpPr>
        <p:spPr>
          <a:xfrm>
            <a:off x="731520" y="3337560"/>
            <a:ext cx="1737360" cy="13258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Finds straight-line boundaries between movements from the 8 window features.</a:t>
            </a:r>
            <a:endParaRPr lang="en-US" sz="1300" dirty="0"/>
          </a:p>
        </p:txBody>
      </p:sp>
      <p:sp>
        <p:nvSpPr>
          <p:cNvPr id="9" name="Linear Discriminant Analysis result"/>
          <p:cNvSpPr txBox="1"/>
          <p:nvPr/>
        </p:nvSpPr>
        <p:spPr>
          <a:xfrm>
            <a:off x="731520" y="4709160"/>
            <a:ext cx="1737360" cy="132588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34.7%</a:t>
            </a:r>
            <a:endParaRPr lang="en-US" sz="3000" dirty="0"/>
          </a:p>
          <a:p>
            <a:pPr indent="0" marL="0">
              <a:buNone/>
            </a:pPr>
            <a:r>
              <a:rPr lang="en-US" sz="1200" dirty="0">
                <a:solidFill>
                  <a:schemeClr val="tx1"/>
                </a:solidFill>
                <a:latin typeface="Calibri" pitchFamily="34" charset="0"/>
                <a:ea typeface="Calibri" pitchFamily="34" charset="-122"/>
                <a:cs typeface="Calibri" pitchFamily="34" charset="-120"/>
              </a:rPr>
              <a:t>200 ms windows</a:t>
            </a:r>
            <a:endParaRPr lang="en-US" sz="3000" dirty="0"/>
          </a:p>
          <a:p>
            <a:pPr indent="0" marL="0">
              <a:buNone/>
            </a:pPr>
            <a:r>
              <a:rPr lang="en-US" sz="1100" i="1" dirty="0">
                <a:solidFill>
                  <a:schemeClr val="accent5"/>
                </a:solidFill>
                <a:latin typeface="Calibri" pitchFamily="34" charset="0"/>
                <a:ea typeface="Calibri" pitchFamily="34" charset="-122"/>
                <a:cs typeface="Calibri" pitchFamily="34" charset="-120"/>
              </a:rPr>
              <a:t>43.8% on 5.12 s</a:t>
            </a:r>
            <a:endParaRPr lang="en-US" sz="3000" dirty="0"/>
          </a:p>
        </p:txBody>
      </p:sp>
      <p:sp>
        <p:nvSpPr>
          <p:cNvPr id="10" name="Support Vector Machine (RBF, C = 10) card"/>
          <p:cNvSpPr/>
          <p:nvPr/>
        </p:nvSpPr>
        <p:spPr>
          <a:xfrm>
            <a:off x="2788920" y="1737360"/>
            <a:ext cx="2103120" cy="4434840"/>
          </a:xfrm>
          <a:prstGeom prst="roundRect">
            <a:avLst>
              <a:gd name="adj" fmla="val 3478"/>
            </a:avLst>
          </a:prstGeom>
          <a:solidFill>
            <a:schemeClr val="bg2"/>
          </a:solidFill>
          <a:ln w="12700">
            <a:solidFill>
              <a:schemeClr val="bg2"/>
            </a:solidFill>
            <a:prstDash val="solid"/>
          </a:ln>
        </p:spPr>
      </p:sp>
      <p:sp>
        <p:nvSpPr>
          <p:cNvPr id="11" name="Support Vector Machine (RBF, C = 10) badge"/>
          <p:cNvSpPr/>
          <p:nvPr/>
        </p:nvSpPr>
        <p:spPr>
          <a:xfrm>
            <a:off x="2971800" y="1920240"/>
            <a:ext cx="685800" cy="685800"/>
          </a:xfrm>
          <a:prstGeom prst="ellipse">
            <a:avLst/>
          </a:prstGeom>
          <a:solidFill>
            <a:schemeClr val="accent1"/>
          </a:solidFill>
          <a:ln w="12700">
            <a:solidFill>
              <a:schemeClr val="accent1"/>
            </a:solidFill>
            <a:prstDash val="solid"/>
          </a:ln>
        </p:spPr>
      </p:sp>
      <p:sp>
        <p:nvSpPr>
          <p:cNvPr id="12" name="Support Vector Machine (RBF, C = 10) badge text"/>
          <p:cNvSpPr txBox="1"/>
          <p:nvPr/>
        </p:nvSpPr>
        <p:spPr>
          <a:xfrm>
            <a:off x="2971800" y="1920240"/>
            <a:ext cx="685800" cy="6858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SVM</a:t>
            </a:r>
            <a:endParaRPr lang="en-US" sz="1500" dirty="0"/>
          </a:p>
        </p:txBody>
      </p:sp>
      <p:sp>
        <p:nvSpPr>
          <p:cNvPr id="13" name="Support Vector Machine (RBF, C = 10) name"/>
          <p:cNvSpPr txBox="1"/>
          <p:nvPr/>
        </p:nvSpPr>
        <p:spPr>
          <a:xfrm>
            <a:off x="2971800" y="2697480"/>
            <a:ext cx="1737360" cy="5943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Support Vector Machine (RBF, C = 10)</a:t>
            </a:r>
            <a:endParaRPr lang="en-US" sz="1500" dirty="0"/>
          </a:p>
        </p:txBody>
      </p:sp>
      <p:sp>
        <p:nvSpPr>
          <p:cNvPr id="14" name="Support Vector Machine (RBF, C = 10) what"/>
          <p:cNvSpPr txBox="1"/>
          <p:nvPr/>
        </p:nvSpPr>
        <p:spPr>
          <a:xfrm>
            <a:off x="2971800" y="3337560"/>
            <a:ext cx="1737360" cy="13258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Curved boundaries with a radial basis function kernel; the strongest classical model.</a:t>
            </a:r>
            <a:endParaRPr lang="en-US" sz="1300" dirty="0"/>
          </a:p>
        </p:txBody>
      </p:sp>
      <p:sp>
        <p:nvSpPr>
          <p:cNvPr id="15" name="Support Vector Machine (RBF, C = 10) result"/>
          <p:cNvSpPr txBox="1"/>
          <p:nvPr/>
        </p:nvSpPr>
        <p:spPr>
          <a:xfrm>
            <a:off x="2971800" y="4709160"/>
            <a:ext cx="1737360" cy="132588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47.3%</a:t>
            </a:r>
            <a:endParaRPr lang="en-US" sz="3000" dirty="0"/>
          </a:p>
          <a:p>
            <a:pPr indent="0" marL="0">
              <a:buNone/>
            </a:pPr>
            <a:r>
              <a:rPr lang="en-US" sz="1200" dirty="0">
                <a:solidFill>
                  <a:schemeClr val="tx1"/>
                </a:solidFill>
                <a:latin typeface="Calibri" pitchFamily="34" charset="0"/>
                <a:ea typeface="Calibri" pitchFamily="34" charset="-122"/>
                <a:cs typeface="Calibri" pitchFamily="34" charset="-120"/>
              </a:rPr>
              <a:t>5.12 s windows</a:t>
            </a:r>
            <a:endParaRPr lang="en-US" sz="3000" dirty="0"/>
          </a:p>
          <a:p>
            <a:pPr indent="0" marL="0">
              <a:buNone/>
            </a:pPr>
            <a:r>
              <a:rPr lang="en-US" sz="1100" i="1" dirty="0">
                <a:solidFill>
                  <a:schemeClr val="accent5"/>
                </a:solidFill>
                <a:latin typeface="Calibri" pitchFamily="34" charset="0"/>
                <a:ea typeface="Calibri" pitchFamily="34" charset="-122"/>
                <a:cs typeface="Calibri" pitchFamily="34" charset="-120"/>
              </a:rPr>
              <a:t>37.2% on 200 ms</a:t>
            </a:r>
            <a:endParaRPr lang="en-US" sz="3000" dirty="0"/>
          </a:p>
        </p:txBody>
      </p:sp>
      <p:sp>
        <p:nvSpPr>
          <p:cNvPr id="16" name="Random forest (200 trees) card"/>
          <p:cNvSpPr/>
          <p:nvPr/>
        </p:nvSpPr>
        <p:spPr>
          <a:xfrm>
            <a:off x="5029200" y="1737360"/>
            <a:ext cx="2103120" cy="4434840"/>
          </a:xfrm>
          <a:prstGeom prst="roundRect">
            <a:avLst>
              <a:gd name="adj" fmla="val 3478"/>
            </a:avLst>
          </a:prstGeom>
          <a:solidFill>
            <a:schemeClr val="bg2"/>
          </a:solidFill>
          <a:ln w="12700">
            <a:solidFill>
              <a:schemeClr val="bg2"/>
            </a:solidFill>
            <a:prstDash val="solid"/>
          </a:ln>
        </p:spPr>
      </p:sp>
      <p:sp>
        <p:nvSpPr>
          <p:cNvPr id="17" name="Random forest (200 trees) badge"/>
          <p:cNvSpPr/>
          <p:nvPr/>
        </p:nvSpPr>
        <p:spPr>
          <a:xfrm>
            <a:off x="5212080" y="1920240"/>
            <a:ext cx="685800" cy="685800"/>
          </a:xfrm>
          <a:prstGeom prst="ellipse">
            <a:avLst/>
          </a:prstGeom>
          <a:solidFill>
            <a:schemeClr val="accent4"/>
          </a:solidFill>
          <a:ln w="12700">
            <a:solidFill>
              <a:schemeClr val="accent4"/>
            </a:solidFill>
            <a:prstDash val="solid"/>
          </a:ln>
        </p:spPr>
      </p:sp>
      <p:sp>
        <p:nvSpPr>
          <p:cNvPr id="18" name="Random forest (200 trees) badge text"/>
          <p:cNvSpPr txBox="1"/>
          <p:nvPr/>
        </p:nvSpPr>
        <p:spPr>
          <a:xfrm>
            <a:off x="5212080" y="1920240"/>
            <a:ext cx="685800" cy="6858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RF</a:t>
            </a:r>
            <a:endParaRPr lang="en-US" sz="1500" dirty="0"/>
          </a:p>
        </p:txBody>
      </p:sp>
      <p:sp>
        <p:nvSpPr>
          <p:cNvPr id="19" name="Random forest (200 trees) name"/>
          <p:cNvSpPr txBox="1"/>
          <p:nvPr/>
        </p:nvSpPr>
        <p:spPr>
          <a:xfrm>
            <a:off x="5212080" y="2697480"/>
            <a:ext cx="1737360" cy="5943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Random forest (200 trees)</a:t>
            </a:r>
            <a:endParaRPr lang="en-US" sz="1500" dirty="0"/>
          </a:p>
        </p:txBody>
      </p:sp>
      <p:sp>
        <p:nvSpPr>
          <p:cNvPr id="20" name="Random forest (200 trees) what"/>
          <p:cNvSpPr txBox="1"/>
          <p:nvPr/>
        </p:nvSpPr>
        <p:spPr>
          <a:xfrm>
            <a:off x="5212080" y="3337560"/>
            <a:ext cx="1737360" cy="13258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Votes of many decision trees; robust to features on different scales.</a:t>
            </a:r>
            <a:endParaRPr lang="en-US" sz="1300" dirty="0"/>
          </a:p>
        </p:txBody>
      </p:sp>
      <p:sp>
        <p:nvSpPr>
          <p:cNvPr id="21" name="Random forest (200 trees) result"/>
          <p:cNvSpPr txBox="1"/>
          <p:nvPr/>
        </p:nvSpPr>
        <p:spPr>
          <a:xfrm>
            <a:off x="5212080" y="4709160"/>
            <a:ext cx="1737360" cy="13258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48.1%</a:t>
            </a:r>
            <a:endParaRPr lang="en-US" sz="3000" dirty="0"/>
          </a:p>
          <a:p>
            <a:pPr indent="0" marL="0">
              <a:buNone/>
            </a:pPr>
            <a:r>
              <a:rPr lang="en-US" sz="1200" dirty="0">
                <a:solidFill>
                  <a:schemeClr val="tx1"/>
                </a:solidFill>
                <a:latin typeface="Calibri" pitchFamily="34" charset="0"/>
                <a:ea typeface="Calibri" pitchFamily="34" charset="-122"/>
                <a:cs typeface="Calibri" pitchFamily="34" charset="-120"/>
              </a:rPr>
              <a:t>on frozen MOMENT-1 features</a:t>
            </a:r>
            <a:endParaRPr lang="en-US" sz="3000" dirty="0"/>
          </a:p>
          <a:p>
            <a:pPr indent="0" marL="0">
              <a:buNone/>
            </a:pPr>
            <a:r>
              <a:rPr lang="en-US" sz="1100" i="1" dirty="0">
                <a:solidFill>
                  <a:schemeClr val="accent5"/>
                </a:solidFill>
                <a:latin typeface="Calibri" pitchFamily="34" charset="0"/>
                <a:ea typeface="Calibri" pitchFamily="34" charset="-122"/>
                <a:cs typeface="Calibri" pitchFamily="34" charset="-120"/>
              </a:rPr>
              <a:t>best result overall</a:t>
            </a:r>
            <a:endParaRPr lang="en-US" sz="3000" dirty="0"/>
          </a:p>
        </p:txBody>
      </p:sp>
      <p:sp>
        <p:nvSpPr>
          <p:cNvPr id="22" name="MOMENT-1-small card"/>
          <p:cNvSpPr/>
          <p:nvPr/>
        </p:nvSpPr>
        <p:spPr>
          <a:xfrm>
            <a:off x="7269480" y="1737360"/>
            <a:ext cx="2103120" cy="4434840"/>
          </a:xfrm>
          <a:prstGeom prst="roundRect">
            <a:avLst>
              <a:gd name="adj" fmla="val 3478"/>
            </a:avLst>
          </a:prstGeom>
          <a:solidFill>
            <a:schemeClr val="bg2"/>
          </a:solidFill>
          <a:ln w="12700">
            <a:solidFill>
              <a:schemeClr val="bg2"/>
            </a:solidFill>
            <a:prstDash val="solid"/>
          </a:ln>
        </p:spPr>
      </p:sp>
      <p:sp>
        <p:nvSpPr>
          <p:cNvPr id="23" name="MOMENT-1-small badge"/>
          <p:cNvSpPr/>
          <p:nvPr/>
        </p:nvSpPr>
        <p:spPr>
          <a:xfrm>
            <a:off x="7452360" y="1920240"/>
            <a:ext cx="685800" cy="685800"/>
          </a:xfrm>
          <a:prstGeom prst="ellipse">
            <a:avLst/>
          </a:prstGeom>
          <a:solidFill>
            <a:schemeClr val="accent6"/>
          </a:solidFill>
          <a:ln w="12700">
            <a:solidFill>
              <a:schemeClr val="accent6"/>
            </a:solidFill>
            <a:prstDash val="solid"/>
          </a:ln>
        </p:spPr>
      </p:sp>
      <p:sp>
        <p:nvSpPr>
          <p:cNvPr id="24" name="MOMENT-1-small badge text"/>
          <p:cNvSpPr txBox="1"/>
          <p:nvPr/>
        </p:nvSpPr>
        <p:spPr>
          <a:xfrm>
            <a:off x="7452360" y="1920240"/>
            <a:ext cx="685800" cy="6858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M1</a:t>
            </a:r>
            <a:endParaRPr lang="en-US" sz="1500" dirty="0"/>
          </a:p>
        </p:txBody>
      </p:sp>
      <p:sp>
        <p:nvSpPr>
          <p:cNvPr id="25" name="MOMENT-1-small name"/>
          <p:cNvSpPr txBox="1"/>
          <p:nvPr/>
        </p:nvSpPr>
        <p:spPr>
          <a:xfrm>
            <a:off x="7452360" y="2697480"/>
            <a:ext cx="1737360" cy="5943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MOMENT-1-small</a:t>
            </a:r>
            <a:endParaRPr lang="en-US" sz="1500" dirty="0"/>
          </a:p>
        </p:txBody>
      </p:sp>
      <p:sp>
        <p:nvSpPr>
          <p:cNvPr id="26" name="MOMENT-1-small what"/>
          <p:cNvSpPr txBox="1"/>
          <p:nvPr/>
        </p:nvSpPr>
        <p:spPr>
          <a:xfrm>
            <a:off x="7452360" y="3337560"/>
            <a:ext cx="1737360" cy="13258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Pre-trained time-series transformer (35.3 M parameters); turns 5.12 s into a 512-value embedding.</a:t>
            </a:r>
            <a:endParaRPr lang="en-US" sz="1300" dirty="0"/>
          </a:p>
        </p:txBody>
      </p:sp>
      <p:sp>
        <p:nvSpPr>
          <p:cNvPr id="27" name="MOMENT-1-small result"/>
          <p:cNvSpPr txBox="1"/>
          <p:nvPr/>
        </p:nvSpPr>
        <p:spPr>
          <a:xfrm>
            <a:off x="7452360" y="4709160"/>
            <a:ext cx="1737360" cy="132588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14.2%</a:t>
            </a:r>
            <a:endParaRPr lang="en-US" sz="3000" dirty="0"/>
          </a:p>
          <a:p>
            <a:pPr indent="0" marL="0">
              <a:buNone/>
            </a:pPr>
            <a:r>
              <a:rPr lang="en-US" sz="1200" dirty="0">
                <a:solidFill>
                  <a:schemeClr val="tx1"/>
                </a:solidFill>
                <a:latin typeface="Calibri" pitchFamily="34" charset="0"/>
                <a:ea typeface="Calibri" pitchFamily="34" charset="-122"/>
                <a:cs typeface="Calibri" pitchFamily="34" charset="-120"/>
              </a:rPr>
              <a:t>untrained head alone</a:t>
            </a:r>
            <a:endParaRPr lang="en-US" sz="3000" dirty="0"/>
          </a:p>
          <a:p>
            <a:pPr indent="0" marL="0">
              <a:buNone/>
            </a:pPr>
            <a:r>
              <a:rPr lang="en-US" sz="1100" i="1" dirty="0">
                <a:solidFill>
                  <a:schemeClr val="accent5"/>
                </a:solidFill>
                <a:latin typeface="Calibri" pitchFamily="34" charset="0"/>
                <a:ea typeface="Calibri" pitchFamily="34" charset="-122"/>
                <a:cs typeface="Calibri" pitchFamily="34" charset="-120"/>
              </a:rPr>
              <a:t>needs a trained classifier</a:t>
            </a:r>
            <a:endParaRPr lang="en-US" sz="3000" dirty="0"/>
          </a:p>
        </p:txBody>
      </p:sp>
      <p:sp>
        <p:nvSpPr>
          <p:cNvPr id="28" name="LoRA fine-tuning card"/>
          <p:cNvSpPr/>
          <p:nvPr/>
        </p:nvSpPr>
        <p:spPr>
          <a:xfrm>
            <a:off x="9509760" y="1737360"/>
            <a:ext cx="2103120" cy="4434840"/>
          </a:xfrm>
          <a:prstGeom prst="roundRect">
            <a:avLst>
              <a:gd name="adj" fmla="val 3478"/>
            </a:avLst>
          </a:prstGeom>
          <a:solidFill>
            <a:schemeClr val="bg2"/>
          </a:solidFill>
          <a:ln w="12700">
            <a:solidFill>
              <a:schemeClr val="bg2"/>
            </a:solidFill>
            <a:prstDash val="solid"/>
          </a:ln>
        </p:spPr>
      </p:sp>
      <p:sp>
        <p:nvSpPr>
          <p:cNvPr id="29" name="LoRA fine-tuning badge"/>
          <p:cNvSpPr/>
          <p:nvPr/>
        </p:nvSpPr>
        <p:spPr>
          <a:xfrm>
            <a:off x="9692640" y="1920240"/>
            <a:ext cx="685800" cy="685800"/>
          </a:xfrm>
          <a:prstGeom prst="ellipse">
            <a:avLst/>
          </a:prstGeom>
          <a:solidFill>
            <a:schemeClr val="accent6"/>
          </a:solidFill>
          <a:ln w="12700">
            <a:solidFill>
              <a:schemeClr val="accent6"/>
            </a:solidFill>
            <a:prstDash val="solid"/>
          </a:ln>
        </p:spPr>
      </p:sp>
      <p:sp>
        <p:nvSpPr>
          <p:cNvPr id="30" name="LoRA fine-tuning badge text"/>
          <p:cNvSpPr txBox="1"/>
          <p:nvPr/>
        </p:nvSpPr>
        <p:spPr>
          <a:xfrm>
            <a:off x="9692640" y="1920240"/>
            <a:ext cx="685800" cy="6858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LoRA</a:t>
            </a:r>
            <a:endParaRPr lang="en-US" sz="1200" dirty="0"/>
          </a:p>
        </p:txBody>
      </p:sp>
      <p:sp>
        <p:nvSpPr>
          <p:cNvPr id="31" name="LoRA fine-tuning name"/>
          <p:cNvSpPr txBox="1"/>
          <p:nvPr/>
        </p:nvSpPr>
        <p:spPr>
          <a:xfrm>
            <a:off x="9692640" y="2697480"/>
            <a:ext cx="1737360" cy="5943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LoRA fine-tuning</a:t>
            </a:r>
            <a:endParaRPr lang="en-US" sz="1500" dirty="0"/>
          </a:p>
        </p:txBody>
      </p:sp>
      <p:sp>
        <p:nvSpPr>
          <p:cNvPr id="32" name="LoRA fine-tuning what"/>
          <p:cNvSpPr txBox="1"/>
          <p:nvPr/>
        </p:nvSpPr>
        <p:spPr>
          <a:xfrm>
            <a:off x="9692640" y="3337560"/>
            <a:ext cx="1737360" cy="13258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Rank 8 adapters on attention q and v plus a new head: 118,279 trainable parameters.</a:t>
            </a:r>
            <a:endParaRPr lang="en-US" sz="1300" dirty="0"/>
          </a:p>
        </p:txBody>
      </p:sp>
      <p:sp>
        <p:nvSpPr>
          <p:cNvPr id="33" name="LoRA fine-tuning result"/>
          <p:cNvSpPr txBox="1"/>
          <p:nvPr/>
        </p:nvSpPr>
        <p:spPr>
          <a:xfrm>
            <a:off x="9692640" y="4709160"/>
            <a:ext cx="1737360" cy="132588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45.9%</a:t>
            </a:r>
            <a:endParaRPr lang="en-US" sz="3000" dirty="0"/>
          </a:p>
          <a:p>
            <a:pPr indent="0" marL="0">
              <a:buNone/>
            </a:pPr>
            <a:r>
              <a:rPr lang="en-US" sz="1200" dirty="0">
                <a:solidFill>
                  <a:schemeClr val="tx1"/>
                </a:solidFill>
                <a:latin typeface="Calibri" pitchFamily="34" charset="0"/>
                <a:ea typeface="Calibri" pitchFamily="34" charset="-122"/>
                <a:cs typeface="Calibri" pitchFamily="34" charset="-120"/>
              </a:rPr>
              <a:t>fine-tuned MOMENT-1</a:t>
            </a:r>
            <a:endParaRPr lang="en-US" sz="3000" dirty="0"/>
          </a:p>
          <a:p>
            <a:pPr indent="0" marL="0">
              <a:buNone/>
            </a:pPr>
            <a:r>
              <a:rPr lang="en-US" sz="1100" i="1" dirty="0">
                <a:solidFill>
                  <a:schemeClr val="accent5"/>
                </a:solidFill>
                <a:latin typeface="Calibri" pitchFamily="34" charset="0"/>
                <a:ea typeface="Calibri" pitchFamily="34" charset="-122"/>
                <a:cs typeface="Calibri" pitchFamily="34" charset="-120"/>
              </a:rPr>
              <a:t>48.7% on holdout split</a:t>
            </a:r>
            <a:endParaRPr lang="en-US" sz="3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000" b="1" dirty="0">
                <a:solidFill>
                  <a:schemeClr val="tx2"/>
                </a:solidFill>
              </a:rPr>
              <a:t>Longer windows and MOMENT-1 features scored best</a:t>
            </a:r>
            <a:endParaRPr lang="en-US" sz="3000" dirty="0"/>
          </a:p>
        </p:txBody>
      </p:sp>
      <p:graphicFrame>
        <p:nvGraphicFramePr>
          <p:cNvPr id="3" name="Accuracy chart" descr=""/>
          <p:cNvGraphicFramePr/>
          <p:nvPr/>
        </p:nvGraphicFramePr>
        <p:xfrm>
          <a:off x="548640" y="1188720"/>
          <a:ext cx="7315200" cy="5074920"/>
        </p:xfrm>
        <a:graphic xmlns:a="http://schemas.openxmlformats.org/drawingml/2006/main">
          <a:graphicData uri="http://schemas.openxmlformats.org/drawingml/2006/chart">
            <c:chart xmlns:c="http://schemas.openxmlformats.org/drawingml/2006/chart" r:id="rId1"/>
          </a:graphicData>
        </a:graphic>
      </p:graphicFrame>
      <p:sp>
        <p:nvSpPr>
          <p:cNvPr id="4" name="Best"/>
          <p:cNvSpPr/>
          <p:nvPr/>
        </p:nvSpPr>
        <p:spPr>
          <a:xfrm>
            <a:off x="8183880" y="1280160"/>
            <a:ext cx="3429000" cy="1463040"/>
          </a:xfrm>
          <a:prstGeom prst="roundRect">
            <a:avLst>
              <a:gd name="adj" fmla="val 5000"/>
            </a:avLst>
          </a:prstGeom>
          <a:solidFill>
            <a:schemeClr val="bg2"/>
          </a:solidFill>
          <a:ln w="12700">
            <a:solidFill>
              <a:schemeClr val="bg2"/>
            </a:solidFill>
            <a:prstDash val="solid"/>
          </a:ln>
        </p:spPr>
      </p:sp>
      <p:sp>
        <p:nvSpPr>
          <p:cNvPr id="5" name="Best text"/>
          <p:cNvSpPr txBox="1"/>
          <p:nvPr/>
        </p:nvSpPr>
        <p:spPr>
          <a:xfrm>
            <a:off x="8366760" y="1280160"/>
            <a:ext cx="3063240" cy="146304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48.1%</a:t>
            </a:r>
            <a:endParaRPr lang="en-US" sz="3600" dirty="0"/>
          </a:p>
          <a:p>
            <a:pPr indent="0" marL="0">
              <a:buNone/>
            </a:pPr>
            <a:r>
              <a:rPr lang="en-US" sz="1300" dirty="0">
                <a:solidFill>
                  <a:schemeClr val="tx1"/>
                </a:solidFill>
                <a:latin typeface="Calibri" pitchFamily="34" charset="0"/>
                <a:ea typeface="Calibri" pitchFamily="34" charset="-122"/>
                <a:cs typeface="Calibri" pitchFamily="34" charset="-120"/>
              </a:rPr>
              <a:t>Best: frozen MOMENT-1 features + random forest</a:t>
            </a:r>
            <a:endParaRPr lang="en-US" sz="3600" dirty="0"/>
          </a:p>
        </p:txBody>
      </p:sp>
      <p:sp>
        <p:nvSpPr>
          <p:cNvPr id="6" name="Window"/>
          <p:cNvSpPr/>
          <p:nvPr/>
        </p:nvSpPr>
        <p:spPr>
          <a:xfrm>
            <a:off x="8183880" y="2926080"/>
            <a:ext cx="3429000" cy="1463040"/>
          </a:xfrm>
          <a:prstGeom prst="roundRect">
            <a:avLst>
              <a:gd name="adj" fmla="val 5000"/>
            </a:avLst>
          </a:prstGeom>
          <a:solidFill>
            <a:schemeClr val="bg2"/>
          </a:solidFill>
          <a:ln w="12700">
            <a:solidFill>
              <a:schemeClr val="bg2"/>
            </a:solidFill>
            <a:prstDash val="solid"/>
          </a:ln>
        </p:spPr>
      </p:sp>
      <p:sp>
        <p:nvSpPr>
          <p:cNvPr id="7" name="Window text"/>
          <p:cNvSpPr txBox="1"/>
          <p:nvPr/>
        </p:nvSpPr>
        <p:spPr>
          <a:xfrm>
            <a:off x="8366760" y="2926080"/>
            <a:ext cx="3063240" cy="146304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+10.1 pts</a:t>
            </a:r>
            <a:endParaRPr lang="en-US" sz="3600" dirty="0"/>
          </a:p>
          <a:p>
            <a:pPr indent="0" marL="0">
              <a:buNone/>
            </a:pPr>
            <a:r>
              <a:rPr lang="en-US" sz="1300" dirty="0">
                <a:solidFill>
                  <a:schemeClr val="tx1"/>
                </a:solidFill>
                <a:latin typeface="Calibri" pitchFamily="34" charset="0"/>
                <a:ea typeface="Calibri" pitchFamily="34" charset="-122"/>
                <a:cs typeface="Calibri" pitchFamily="34" charset="-120"/>
              </a:rPr>
              <a:t>SVM from 200 ms to 5.12 s windows (37.2% to 47.3%)</a:t>
            </a:r>
            <a:endParaRPr lang="en-US" sz="3600" dirty="0"/>
          </a:p>
        </p:txBody>
      </p:sp>
      <p:sp>
        <p:nvSpPr>
          <p:cNvPr id="8" name="Chance"/>
          <p:cNvSpPr/>
          <p:nvPr/>
        </p:nvSpPr>
        <p:spPr>
          <a:xfrm>
            <a:off x="8183880" y="4572000"/>
            <a:ext cx="3429000" cy="1463040"/>
          </a:xfrm>
          <a:prstGeom prst="roundRect">
            <a:avLst>
              <a:gd name="adj" fmla="val 5000"/>
            </a:avLst>
          </a:prstGeom>
          <a:solidFill>
            <a:schemeClr val="bg2"/>
          </a:solidFill>
          <a:ln w="12700">
            <a:solidFill>
              <a:schemeClr val="bg2"/>
            </a:solidFill>
            <a:prstDash val="solid"/>
          </a:ln>
        </p:spPr>
      </p:sp>
      <p:sp>
        <p:nvSpPr>
          <p:cNvPr id="9" name="Chance text"/>
          <p:cNvSpPr txBox="1"/>
          <p:nvPr/>
        </p:nvSpPr>
        <p:spPr>
          <a:xfrm>
            <a:off x="8366760" y="4572000"/>
            <a:ext cx="3063240" cy="1463040"/>
          </a:xfrm>
          <a:prstGeom prst="rect">
            <a:avLst/>
          </a:prstGeom>
          <a:noFill/>
          <a:ln/>
        </p:spPr>
        <p:txBody>
          <a:bodyPr wrap="square" lIns="0" tIns="0" rIns="0" bIns="0" rtlCol="0" anchor="ctr"/>
          <a:lstStyle/>
          <a:p>
            <a:pPr indent="0" marL="0">
              <a:buNone/>
            </a:pPr>
            <a:r>
              <a:rPr lang="en-US" sz="3600" b="1" dirty="0">
                <a:solidFill>
                  <a:schemeClr val="accent5"/>
                </a:solidFill>
                <a:latin typeface="Cambria" pitchFamily="34" charset="0"/>
                <a:ea typeface="Cambria" pitchFamily="34" charset="-122"/>
                <a:cs typeface="Cambria" pitchFamily="34" charset="-120"/>
              </a:rPr>
              <a:t>14.3%</a:t>
            </a:r>
            <a:endParaRPr lang="en-US" sz="3600" dirty="0"/>
          </a:p>
          <a:p>
            <a:pPr indent="0" marL="0">
              <a:buNone/>
            </a:pPr>
            <a:r>
              <a:rPr lang="en-US" sz="1300" dirty="0">
                <a:solidFill>
                  <a:schemeClr val="tx1"/>
                </a:solidFill>
                <a:latin typeface="Calibri" pitchFamily="34" charset="0"/>
                <a:ea typeface="Calibri" pitchFamily="34" charset="-122"/>
                <a:cs typeface="Calibri" pitchFamily="34" charset="-120"/>
              </a:rPr>
              <a:t>Chance level for 7 balanced movements</a:t>
            </a:r>
            <a:endParaRPr lang="en-US" sz="3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000" b="1" dirty="0">
                <a:solidFill>
                  <a:schemeClr val="tx2"/>
                </a:solidFill>
              </a:rPr>
              <a:t>Confusion matrix: grip is learnable, direction is not</a:t>
            </a:r>
            <a:endParaRPr lang="en-US" sz="3000" dirty="0"/>
          </a:p>
        </p:txBody>
      </p:sp>
      <p:pic>
        <p:nvPicPr>
          <p:cNvPr id="3" name="Confusion matrix" descr="Row-normalised confusion matrix of MOMENT-1-small with LoRA, leave-one-subject-out over 8 healthy volunteers">    </p:cNvPr>
          <p:cNvPicPr>
            <a:picLocks noChangeAspect="1"/>
          </p:cNvPicPr>
          <p:nvPr/>
        </p:nvPicPr>
        <p:blipFill>
          <a:blip r:embed="rId1"/>
          <a:stretch>
            <a:fillRect/>
          </a:stretch>
        </p:blipFill>
        <p:spPr>
          <a:xfrm>
            <a:off x="548640" y="1143000"/>
            <a:ext cx="5814060" cy="4983480"/>
          </a:xfrm>
          <a:prstGeom prst="rect">
            <a:avLst/>
          </a:prstGeom>
        </p:spPr>
      </p:pic>
      <p:sp>
        <p:nvSpPr>
          <p:cNvPr id="4" name="Open value"/>
          <p:cNvSpPr txBox="1"/>
          <p:nvPr/>
        </p:nvSpPr>
        <p:spPr>
          <a:xfrm>
            <a:off x="6675120" y="1280160"/>
            <a:ext cx="1417320" cy="82296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82%</a:t>
            </a:r>
            <a:endParaRPr lang="en-US" sz="3000" dirty="0"/>
          </a:p>
        </p:txBody>
      </p:sp>
      <p:sp>
        <p:nvSpPr>
          <p:cNvPr id="5" name="Open text"/>
          <p:cNvSpPr txBox="1"/>
          <p:nvPr/>
        </p:nvSpPr>
        <p:spPr>
          <a:xfrm>
            <a:off x="8183880" y="1280160"/>
            <a:ext cx="3429000" cy="8229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Hand Open recognised</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and Hand Close 74%: strong activity contrasts</a:t>
            </a:r>
            <a:endParaRPr lang="en-US" sz="1500" dirty="0"/>
          </a:p>
        </p:txBody>
      </p:sp>
      <p:sp>
        <p:nvSpPr>
          <p:cNvPr id="6" name="Rest value"/>
          <p:cNvSpPr txBox="1"/>
          <p:nvPr/>
        </p:nvSpPr>
        <p:spPr>
          <a:xfrm>
            <a:off x="6675120" y="2286000"/>
            <a:ext cx="1417320" cy="8229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65%</a:t>
            </a:r>
            <a:endParaRPr lang="en-US" sz="3000" dirty="0"/>
          </a:p>
        </p:txBody>
      </p:sp>
      <p:sp>
        <p:nvSpPr>
          <p:cNvPr id="7" name="Rest text"/>
          <p:cNvSpPr txBox="1"/>
          <p:nvPr/>
        </p:nvSpPr>
        <p:spPr>
          <a:xfrm>
            <a:off x="8183880" y="2286000"/>
            <a:ext cx="3429000" cy="8229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Rest recognised</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31% of Rest windows were read as Hand Open</a:t>
            </a:r>
            <a:endParaRPr lang="en-US" sz="1500" dirty="0"/>
          </a:p>
        </p:txBody>
      </p:sp>
      <p:sp>
        <p:nvSpPr>
          <p:cNvPr id="8" name="Dirs value"/>
          <p:cNvSpPr txBox="1"/>
          <p:nvPr/>
        </p:nvSpPr>
        <p:spPr>
          <a:xfrm>
            <a:off x="6675120" y="3291840"/>
            <a:ext cx="1417320" cy="82296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17-31%</a:t>
            </a:r>
            <a:endParaRPr lang="en-US" sz="3000" dirty="0"/>
          </a:p>
        </p:txBody>
      </p:sp>
      <p:sp>
        <p:nvSpPr>
          <p:cNvPr id="9" name="Dirs text"/>
          <p:cNvSpPr txBox="1"/>
          <p:nvPr/>
        </p:nvSpPr>
        <p:spPr>
          <a:xfrm>
            <a:off x="8183880" y="3291840"/>
            <a:ext cx="3429000" cy="8229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Left, Right, Up, Down</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near chance: one forearm channel cannot tell direction</a:t>
            </a:r>
            <a:endParaRPr lang="en-US" sz="1500" dirty="0"/>
          </a:p>
        </p:txBody>
      </p:sp>
      <p:sp>
        <p:nvSpPr>
          <p:cNvPr id="10" name="Takeaway"/>
          <p:cNvSpPr/>
          <p:nvPr/>
        </p:nvSpPr>
        <p:spPr>
          <a:xfrm>
            <a:off x="6675120" y="4434840"/>
            <a:ext cx="4937760" cy="1417320"/>
          </a:xfrm>
          <a:prstGeom prst="roundRect">
            <a:avLst>
              <a:gd name="adj" fmla="val 5161"/>
            </a:avLst>
          </a:prstGeom>
          <a:solidFill>
            <a:schemeClr val="bg2"/>
          </a:solidFill>
          <a:ln w="12700">
            <a:solidFill>
              <a:schemeClr val="bg2"/>
            </a:solidFill>
            <a:prstDash val="solid"/>
          </a:ln>
        </p:spPr>
      </p:sp>
      <p:sp>
        <p:nvSpPr>
          <p:cNvPr id="11" name="Takeaway text"/>
          <p:cNvSpPr txBox="1"/>
          <p:nvPr/>
        </p:nvSpPr>
        <p:spPr>
          <a:xfrm>
            <a:off x="6858000" y="4434840"/>
            <a:ext cx="4572000" cy="14173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So in the games, </a:t>
            </a:r>
            <a:pPr indent="0" marL="0">
              <a:buNone/>
            </a:pPr>
            <a:r>
              <a:rPr lang="en-US" sz="1400" b="1" dirty="0">
                <a:solidFill>
                  <a:schemeClr val="tx2"/>
                </a:solidFill>
                <a:latin typeface="Calibri" pitchFamily="34" charset="0"/>
                <a:ea typeface="Calibri" pitchFamily="34" charset="-122"/>
                <a:cs typeface="Calibri" pitchFamily="34" charset="-120"/>
              </a:rPr>
              <a:t>the camera decides the movement</a:t>
            </a:r>
            <a:pPr indent="0" marL="0">
              <a:buNone/>
            </a:pPr>
            <a:r>
              <a:rPr lang="en-US" sz="1400" dirty="0">
                <a:solidFill>
                  <a:schemeClr val="tx1"/>
                </a:solidFill>
                <a:latin typeface="Calibri" pitchFamily="34" charset="0"/>
                <a:ea typeface="Calibri" pitchFamily="34" charset="-122"/>
                <a:cs typeface="Calibri" pitchFamily="34" charset="-120"/>
              </a:rPr>
              <a:t> and EMG checks grip effort.</a:t>
            </a:r>
            <a:endParaRPr lang="en-US" sz="1400" dirty="0"/>
          </a:p>
        </p:txBody>
      </p:sp>
      <p:sp>
        <p:nvSpPr>
          <p:cNvPr id="12" name="Source"/>
          <p:cNvSpPr txBox="1"/>
          <p:nvPr/>
        </p:nvSpPr>
        <p:spPr>
          <a:xfrm>
            <a:off x="6675120" y="5943600"/>
            <a:ext cx="4937760" cy="41148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MOMENT-1-small + LoRA, leave-one-subject-out, 8 healthy volunteers, rows sum to 1. Source: models/moment/small_loso_20261021-192025/confusion.png</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000" b="1" dirty="0">
                <a:solidFill>
                  <a:schemeClr val="tx2"/>
                </a:solidFill>
              </a:rPr>
              <a:t>Games turn effort and accuracy into percentages</a:t>
            </a:r>
            <a:endParaRPr lang="en-US" sz="3000" dirty="0"/>
          </a:p>
        </p:txBody>
      </p:sp>
      <p:graphicFrame>
        <p:nvGraphicFramePr>
          <p:cNvPr id="3" name="Effort chart" descr=""/>
          <p:cNvGraphicFramePr/>
          <p:nvPr/>
        </p:nvGraphicFramePr>
        <p:xfrm>
          <a:off x="548640" y="118872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4" name="Formula"/>
          <p:cNvSpPr/>
          <p:nvPr/>
        </p:nvSpPr>
        <p:spPr>
          <a:xfrm>
            <a:off x="548640" y="4937760"/>
            <a:ext cx="5577840" cy="1325880"/>
          </a:xfrm>
          <a:prstGeom prst="roundRect">
            <a:avLst>
              <a:gd name="adj" fmla="val 5517"/>
            </a:avLst>
          </a:prstGeom>
          <a:solidFill>
            <a:schemeClr val="bg2"/>
          </a:solidFill>
          <a:ln w="12700">
            <a:solidFill>
              <a:schemeClr val="bg2"/>
            </a:solidFill>
            <a:prstDash val="solid"/>
          </a:ln>
        </p:spPr>
      </p:sp>
      <p:sp>
        <p:nvSpPr>
          <p:cNvPr id="5" name="Formula text"/>
          <p:cNvSpPr txBox="1"/>
          <p:nvPr/>
        </p:nvSpPr>
        <p:spPr>
          <a:xfrm>
            <a:off x="731520" y="4937760"/>
            <a:ext cx="5212080" cy="13258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Effort % = (RMS − rest) ÷ (strongest squeeze − rest) × 100</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Rest and strongest squeeze come from each patient's relax-then-squeeze check. A fist counts only when effort reaches the level's threshold.</a:t>
            </a:r>
            <a:endParaRPr lang="en-US" sz="1500" dirty="0"/>
          </a:p>
        </p:txBody>
      </p:sp>
      <p:sp>
        <p:nvSpPr>
          <p:cNvPr id="6" name="Text 3"/>
          <p:cNvSpPr txBox="1"/>
          <p:nvPr/>
        </p:nvSpPr>
        <p:spPr>
          <a:xfrm>
            <a:off x="6537960" y="1234440"/>
            <a:ext cx="507492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Session accuracy  =  correct attempts ÷ all attempts × 100</a:t>
            </a:r>
            <a:endParaRPr lang="en-US" sz="1500" dirty="0"/>
          </a:p>
        </p:txBody>
      </p:sp>
      <p:sp>
        <p:nvSpPr>
          <p:cNvPr id="7" name="Text 4"/>
          <p:cNvSpPr txBox="1"/>
          <p:nvPr/>
        </p:nvSpPr>
        <p:spPr>
          <a:xfrm>
            <a:off x="6537960" y="1783080"/>
            <a:ext cx="5074920" cy="320040"/>
          </a:xfrm>
          <a:prstGeom prst="rect">
            <a:avLst/>
          </a:prstGeom>
          <a:noFill/>
          <a:ln/>
        </p:spPr>
        <p:txBody>
          <a:bodyPr wrap="square" lIns="0" tIns="0" rIns="0" bIns="0" rtlCol="0" anchor="ctr"/>
          <a:lstStyle/>
          <a:p>
            <a:pPr indent="0" marL="0">
              <a:buNone/>
            </a:pPr>
            <a:r>
              <a:rPr lang="en-US" sz="1300" b="1" dirty="0">
                <a:solidFill>
                  <a:schemeClr val="accent5"/>
                </a:solidFill>
                <a:latin typeface="Calibri" pitchFamily="34" charset="0"/>
                <a:ea typeface="Calibri" pitchFamily="34" charset="-122"/>
                <a:cs typeface="Calibri" pitchFamily="34" charset="-120"/>
              </a:rPr>
              <a:t>Results screen stars</a:t>
            </a:r>
            <a:endParaRPr lang="en-US" sz="1300" dirty="0"/>
          </a:p>
        </p:txBody>
      </p:sp>
      <p:sp>
        <p:nvSpPr>
          <p:cNvPr id="8" name="Stars 0-50"/>
          <p:cNvSpPr/>
          <p:nvPr/>
        </p:nvSpPr>
        <p:spPr>
          <a:xfrm>
            <a:off x="6537960" y="2148840"/>
            <a:ext cx="2537460" cy="685800"/>
          </a:xfrm>
          <a:prstGeom prst="rect">
            <a:avLst/>
          </a:prstGeom>
          <a:solidFill>
            <a:schemeClr val="accent5"/>
          </a:solidFill>
          <a:ln w="25400">
            <a:solidFill>
              <a:srgbClr val="FFFFFF"/>
            </a:solidFill>
            <a:prstDash val="solid"/>
          </a:ln>
        </p:spPr>
      </p:sp>
      <p:sp>
        <p:nvSpPr>
          <p:cNvPr id="9" name="Stars 0-50 text"/>
          <p:cNvSpPr txBox="1"/>
          <p:nvPr/>
        </p:nvSpPr>
        <p:spPr>
          <a:xfrm>
            <a:off x="6537960" y="2148840"/>
            <a:ext cx="2537460"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 star</a:t>
            </a:r>
            <a:endParaRPr lang="en-US" sz="1300" dirty="0"/>
          </a:p>
        </p:txBody>
      </p:sp>
      <p:sp>
        <p:nvSpPr>
          <p:cNvPr id="10" name="Stars 50-80"/>
          <p:cNvSpPr/>
          <p:nvPr/>
        </p:nvSpPr>
        <p:spPr>
          <a:xfrm>
            <a:off x="9075420" y="2148840"/>
            <a:ext cx="1522476" cy="685800"/>
          </a:xfrm>
          <a:prstGeom prst="rect">
            <a:avLst/>
          </a:prstGeom>
          <a:solidFill>
            <a:schemeClr val="accent3"/>
          </a:solidFill>
          <a:ln w="25400">
            <a:solidFill>
              <a:srgbClr val="FFFFFF"/>
            </a:solidFill>
            <a:prstDash val="solid"/>
          </a:ln>
        </p:spPr>
      </p:sp>
      <p:sp>
        <p:nvSpPr>
          <p:cNvPr id="11" name="Stars 50-80 text"/>
          <p:cNvSpPr txBox="1"/>
          <p:nvPr/>
        </p:nvSpPr>
        <p:spPr>
          <a:xfrm>
            <a:off x="9075420" y="2148840"/>
            <a:ext cx="1522476"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 stars</a:t>
            </a:r>
            <a:endParaRPr lang="en-US" sz="1300" dirty="0"/>
          </a:p>
        </p:txBody>
      </p:sp>
      <p:sp>
        <p:nvSpPr>
          <p:cNvPr id="12" name="Stars 80-100"/>
          <p:cNvSpPr/>
          <p:nvPr/>
        </p:nvSpPr>
        <p:spPr>
          <a:xfrm>
            <a:off x="10597896" y="2148840"/>
            <a:ext cx="1014984" cy="685800"/>
          </a:xfrm>
          <a:prstGeom prst="rect">
            <a:avLst/>
          </a:prstGeom>
          <a:solidFill>
            <a:schemeClr val="accent4"/>
          </a:solidFill>
          <a:ln w="25400">
            <a:solidFill>
              <a:srgbClr val="FFFFFF"/>
            </a:solidFill>
            <a:prstDash val="solid"/>
          </a:ln>
        </p:spPr>
      </p:sp>
      <p:sp>
        <p:nvSpPr>
          <p:cNvPr id="13" name="Stars 80-100 text"/>
          <p:cNvSpPr txBox="1"/>
          <p:nvPr/>
        </p:nvSpPr>
        <p:spPr>
          <a:xfrm>
            <a:off x="10597896" y="2148840"/>
            <a:ext cx="1014984"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 stars</a:t>
            </a:r>
            <a:endParaRPr lang="en-US" sz="1300" dirty="0"/>
          </a:p>
        </p:txBody>
      </p:sp>
      <p:sp>
        <p:nvSpPr>
          <p:cNvPr id="14" name="Text 11"/>
          <p:cNvSpPr txBox="1"/>
          <p:nvPr/>
        </p:nvSpPr>
        <p:spPr>
          <a:xfrm>
            <a:off x="6537960" y="3063240"/>
            <a:ext cx="5074920" cy="320040"/>
          </a:xfrm>
          <a:prstGeom prst="rect">
            <a:avLst/>
          </a:prstGeom>
          <a:noFill/>
          <a:ln/>
        </p:spPr>
        <p:txBody>
          <a:bodyPr wrap="square" lIns="0" tIns="0" rIns="0" bIns="0" rtlCol="0" anchor="ctr"/>
          <a:lstStyle/>
          <a:p>
            <a:pPr indent="0" marL="0">
              <a:buNone/>
            </a:pPr>
            <a:r>
              <a:rPr lang="en-US" sz="1300" b="1" dirty="0">
                <a:solidFill>
                  <a:schemeClr val="accent5"/>
                </a:solidFill>
                <a:latin typeface="Calibri" pitchFamily="34" charset="0"/>
                <a:ea typeface="Calibri" pitchFamily="34" charset="-122"/>
                <a:cs typeface="Calibri" pitchFamily="34" charset="-120"/>
              </a:rPr>
              <a:t>Free play auto difficulty (last 6 attempts)</a:t>
            </a:r>
            <a:endParaRPr lang="en-US" sz="1300" dirty="0"/>
          </a:p>
        </p:txBody>
      </p:sp>
      <p:sp>
        <p:nvSpPr>
          <p:cNvPr id="15" name="Adapt 0-40"/>
          <p:cNvSpPr/>
          <p:nvPr/>
        </p:nvSpPr>
        <p:spPr>
          <a:xfrm>
            <a:off x="6537960" y="3429000"/>
            <a:ext cx="2029968" cy="685800"/>
          </a:xfrm>
          <a:prstGeom prst="rect">
            <a:avLst/>
          </a:prstGeom>
          <a:solidFill>
            <a:schemeClr val="accent2"/>
          </a:solidFill>
          <a:ln w="25400">
            <a:solidFill>
              <a:srgbClr val="FFFFFF"/>
            </a:solidFill>
            <a:prstDash val="solid"/>
          </a:ln>
        </p:spPr>
      </p:sp>
      <p:sp>
        <p:nvSpPr>
          <p:cNvPr id="16" name="Adapt 0-40 text"/>
          <p:cNvSpPr txBox="1"/>
          <p:nvPr/>
        </p:nvSpPr>
        <p:spPr>
          <a:xfrm>
            <a:off x="6537960" y="3429000"/>
            <a:ext cx="2029968"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−0.5 level</a:t>
            </a:r>
            <a:endParaRPr lang="en-US" sz="1300" dirty="0"/>
          </a:p>
        </p:txBody>
      </p:sp>
      <p:sp>
        <p:nvSpPr>
          <p:cNvPr id="17" name="Adapt 40-80"/>
          <p:cNvSpPr/>
          <p:nvPr/>
        </p:nvSpPr>
        <p:spPr>
          <a:xfrm>
            <a:off x="8567928" y="3429000"/>
            <a:ext cx="2029968" cy="685800"/>
          </a:xfrm>
          <a:prstGeom prst="rect">
            <a:avLst/>
          </a:prstGeom>
          <a:solidFill>
            <a:schemeClr val="accent5"/>
          </a:solidFill>
          <a:ln w="25400">
            <a:solidFill>
              <a:srgbClr val="FFFFFF"/>
            </a:solidFill>
            <a:prstDash val="solid"/>
          </a:ln>
        </p:spPr>
      </p:sp>
      <p:sp>
        <p:nvSpPr>
          <p:cNvPr id="18" name="Adapt 40-80 text"/>
          <p:cNvSpPr txBox="1"/>
          <p:nvPr/>
        </p:nvSpPr>
        <p:spPr>
          <a:xfrm>
            <a:off x="8567928" y="3429000"/>
            <a:ext cx="2029968"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stay</a:t>
            </a:r>
            <a:endParaRPr lang="en-US" sz="1300" dirty="0"/>
          </a:p>
        </p:txBody>
      </p:sp>
      <p:sp>
        <p:nvSpPr>
          <p:cNvPr id="19" name="Adapt 80-100"/>
          <p:cNvSpPr/>
          <p:nvPr/>
        </p:nvSpPr>
        <p:spPr>
          <a:xfrm>
            <a:off x="10597896" y="3429000"/>
            <a:ext cx="1014984" cy="685800"/>
          </a:xfrm>
          <a:prstGeom prst="rect">
            <a:avLst/>
          </a:prstGeom>
          <a:solidFill>
            <a:schemeClr val="accent4"/>
          </a:solidFill>
          <a:ln w="25400">
            <a:solidFill>
              <a:srgbClr val="FFFFFF"/>
            </a:solidFill>
            <a:prstDash val="solid"/>
          </a:ln>
        </p:spPr>
      </p:sp>
      <p:sp>
        <p:nvSpPr>
          <p:cNvPr id="20" name="Adapt 80-100 text"/>
          <p:cNvSpPr txBox="1"/>
          <p:nvPr/>
        </p:nvSpPr>
        <p:spPr>
          <a:xfrm>
            <a:off x="10597896" y="3429000"/>
            <a:ext cx="1014984"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+0.5</a:t>
            </a:r>
            <a:endParaRPr lang="en-US" sz="1300" dirty="0"/>
          </a:p>
        </p:txBody>
      </p:sp>
      <p:sp>
        <p:nvSpPr>
          <p:cNvPr id="21" name="Text 18"/>
          <p:cNvSpPr txBox="1"/>
          <p:nvPr/>
        </p:nvSpPr>
        <p:spPr>
          <a:xfrm>
            <a:off x="6217920" y="4160520"/>
            <a:ext cx="640080"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0%</a:t>
            </a:r>
            <a:endParaRPr lang="en-US" sz="1100" dirty="0"/>
          </a:p>
        </p:txBody>
      </p:sp>
      <p:sp>
        <p:nvSpPr>
          <p:cNvPr id="22" name="Text 19"/>
          <p:cNvSpPr txBox="1"/>
          <p:nvPr/>
        </p:nvSpPr>
        <p:spPr>
          <a:xfrm>
            <a:off x="8247888" y="4160520"/>
            <a:ext cx="640080"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40%</a:t>
            </a:r>
            <a:endParaRPr lang="en-US" sz="1100" dirty="0"/>
          </a:p>
        </p:txBody>
      </p:sp>
      <p:sp>
        <p:nvSpPr>
          <p:cNvPr id="23" name="Text 20"/>
          <p:cNvSpPr txBox="1"/>
          <p:nvPr/>
        </p:nvSpPr>
        <p:spPr>
          <a:xfrm>
            <a:off x="8755380" y="4160520"/>
            <a:ext cx="640080"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50%</a:t>
            </a:r>
            <a:endParaRPr lang="en-US" sz="1100" dirty="0"/>
          </a:p>
        </p:txBody>
      </p:sp>
      <p:sp>
        <p:nvSpPr>
          <p:cNvPr id="24" name="Text 21"/>
          <p:cNvSpPr txBox="1"/>
          <p:nvPr/>
        </p:nvSpPr>
        <p:spPr>
          <a:xfrm>
            <a:off x="10277856" y="4160520"/>
            <a:ext cx="640080"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80%</a:t>
            </a:r>
            <a:endParaRPr lang="en-US" sz="1100" dirty="0"/>
          </a:p>
        </p:txBody>
      </p:sp>
      <p:sp>
        <p:nvSpPr>
          <p:cNvPr id="25" name="Text 22"/>
          <p:cNvSpPr txBox="1"/>
          <p:nvPr/>
        </p:nvSpPr>
        <p:spPr>
          <a:xfrm>
            <a:off x="11292840" y="4160520"/>
            <a:ext cx="640080"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100%</a:t>
            </a:r>
            <a:endParaRPr lang="en-US" sz="1100" dirty="0"/>
          </a:p>
        </p:txBody>
      </p:sp>
      <p:sp>
        <p:nvSpPr>
          <p:cNvPr id="26" name="Progress"/>
          <p:cNvSpPr/>
          <p:nvPr/>
        </p:nvSpPr>
        <p:spPr>
          <a:xfrm>
            <a:off x="6537960" y="4572000"/>
            <a:ext cx="5074920" cy="1691640"/>
          </a:xfrm>
          <a:prstGeom prst="roundRect">
            <a:avLst>
              <a:gd name="adj" fmla="val 4324"/>
            </a:avLst>
          </a:prstGeom>
          <a:solidFill>
            <a:schemeClr val="bg2"/>
          </a:solidFill>
          <a:ln w="12700">
            <a:solidFill>
              <a:schemeClr val="bg2"/>
            </a:solidFill>
            <a:prstDash val="solid"/>
          </a:ln>
        </p:spPr>
      </p:sp>
      <p:sp>
        <p:nvSpPr>
          <p:cNvPr id="27" name="Progress text"/>
          <p:cNvSpPr txBox="1"/>
          <p:nvPr/>
        </p:nvSpPr>
        <p:spPr>
          <a:xfrm>
            <a:off x="6720840" y="4572000"/>
            <a:ext cx="4709160" cy="1691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Level goal progress on screen</a:t>
            </a:r>
            <a:endParaRPr lang="en-US" sz="1500" dirty="0"/>
          </a:p>
          <a:p>
            <a:pPr indent="0" marL="0">
              <a:buNone/>
            </a:pPr>
            <a:r>
              <a:rPr lang="en-US" sz="1400" i="1" dirty="0">
                <a:solidFill>
                  <a:schemeClr val="tx1"/>
                </a:solidFill>
                <a:latin typeface="Calibri" pitchFamily="34" charset="0"/>
                <a:ea typeface="Calibri" pitchFamily="34" charset="-122"/>
                <a:cs typeface="Calibri" pitchFamily="34" charset="-120"/>
              </a:rPr>
              <a:t>“Level 4: 9 of 12 balloons popped”</a:t>
            </a:r>
            <a:endParaRPr lang="en-US" sz="1500" dirty="0"/>
          </a:p>
          <a:p>
            <a:pPr indent="0" marL="0">
              <a:buNone/>
            </a:pPr>
            <a:r>
              <a:rPr lang="en-US" sz="1300" dirty="0">
                <a:solidFill>
                  <a:schemeClr val="tx1"/>
                </a:solidFill>
                <a:latin typeface="Calibri" pitchFamily="34" charset="0"/>
                <a:ea typeface="Calibri" pitchFamily="34" charset="-122"/>
                <a:cs typeface="Calibri" pitchFamily="34" charset="-120"/>
              </a:rPr>
              <a:t>Pass the goal in 3 minutes to open the next level the next day (7 levels, about one week per game).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Rehab Signal">
  <a:themeElements>
    <a:clrScheme name="Rehab Signal">
      <a:dk1>
        <a:srgbClr val="17252E"/>
      </a:dk1>
      <a:lt1>
        <a:srgbClr val="FFFFFF"/>
      </a:lt1>
      <a:dk2>
        <a:srgbClr val="0B3954"/>
      </a:dk2>
      <a:lt2>
        <a:srgbClr val="EEF4F5"/>
      </a:lt2>
      <a:accent1>
        <a:srgbClr val="087E8B"/>
      </a:accent1>
      <a:accent2>
        <a:srgbClr val="E4572E"/>
      </a:accent2>
      <a:accent3>
        <a:srgbClr val="F2A541"/>
      </a:accent3>
      <a:accent4>
        <a:srgbClr val="3A9D5D"/>
      </a:accent4>
      <a:accent5>
        <a:srgbClr val="5C6B73"/>
      </a:accent5>
      <a:accent6>
        <a:srgbClr val="6A4C93"/>
      </a:accent6>
      <a:hlink>
        <a:srgbClr val="087E8B"/>
      </a:hlink>
      <a:folHlink>
        <a:srgbClr val="6A4C93"/>
      </a:folHlink>
    </a:clrScheme>
    <a:fontScheme name="Rehab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Sri Lanka Technology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Gamified Upper Limb Stroke Rehabilitation System</dc:title>
  <dc:subject>PptxGenJS Presentation</dc:subject>
  <dc:creator>M. Imzan, M. Atheeq, D. Karunakalage, V. Herath</dc:creator>
  <cp:lastModifiedBy>M. Imzan, M. Atheeq, D. Karunakalage, V. Herath</cp:lastModifiedBy>
  <cp:revision>1</cp:revision>
  <dcterms:created xsi:type="dcterms:W3CDTF">2026-10-26T18:15:11Z</dcterms:created>
  <dcterms:modified xsi:type="dcterms:W3CDTF">2026-10-26T18:15:11Z</dcterms:modified>
</cp:coreProperties>
</file>