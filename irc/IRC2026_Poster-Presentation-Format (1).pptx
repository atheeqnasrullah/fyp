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Weight (kg)</c:v>
                </c:pt>
              </c:strCache>
            </c:strRef>
          </c:tx>
          <c:spPr>
            <a:ln>
              <a:noFill/>
            </a:ln>
            <a:effectLst/>
          </c:spPr>
          <c:marker>
            <c:symbol val="circle"/>
            <c:size val="5"/>
            <c:spPr>
              <a:solidFill>
                <a:srgbClr val="1F3864"/>
              </a:solidFill>
              <a:ln w="9525" cap="flat">
                <a:solidFill>
                  <a:srgbClr val="1F3864"/>
                </a:solidFill>
                <a:prstDash val="solid"/>
                <a:round/>
              </a:ln>
              <a:effectLst/>
            </c:spPr>
          </c:marker>
          <c:xVal>
            <c:numRef>
              <c:f>Sheet1!$A$2:$A$16</c:f>
              <c:numCache>
                <c:formatCode>General</c:formatCode>
                <c:ptCount val="15"/>
                <c:pt idx="0">
                  <c:v>1.47</c:v>
                </c:pt>
                <c:pt idx="1">
                  <c:v>1.5</c:v>
                </c:pt>
                <c:pt idx="2">
                  <c:v>1.52</c:v>
                </c:pt>
                <c:pt idx="3">
                  <c:v>1.55</c:v>
                </c:pt>
                <c:pt idx="4">
                  <c:v>1.57</c:v>
                </c:pt>
                <c:pt idx="5">
                  <c:v>1.6</c:v>
                </c:pt>
                <c:pt idx="6">
                  <c:v>1.63</c:v>
                </c:pt>
                <c:pt idx="7">
                  <c:v>1.65</c:v>
                </c:pt>
                <c:pt idx="8">
                  <c:v>1.68</c:v>
                </c:pt>
                <c:pt idx="9">
                  <c:v>1.7</c:v>
                </c:pt>
                <c:pt idx="10">
                  <c:v>1.73</c:v>
                </c:pt>
                <c:pt idx="11">
                  <c:v>1.75</c:v>
                </c:pt>
                <c:pt idx="12">
                  <c:v>1.78</c:v>
                </c:pt>
                <c:pt idx="13">
                  <c:v>1.8</c:v>
                </c:pt>
                <c:pt idx="14">
                  <c:v>1.83</c:v>
                </c:pt>
              </c:numCache>
            </c:numRef>
          </c:xVal>
          <c:yVal>
            <c:numRef>
              <c:f>Sheet1!$B$2:$B$16</c:f>
              <c:numCache>
                <c:formatCode>General</c:formatCode>
                <c:ptCount val="15"/>
                <c:pt idx="0">
                  <c:v>52.2</c:v>
                </c:pt>
                <c:pt idx="1">
                  <c:v>53.1</c:v>
                </c:pt>
                <c:pt idx="2">
                  <c:v>54.5</c:v>
                </c:pt>
                <c:pt idx="3">
                  <c:v>55.8</c:v>
                </c:pt>
                <c:pt idx="4">
                  <c:v>57.2</c:v>
                </c:pt>
                <c:pt idx="5">
                  <c:v>58.6</c:v>
                </c:pt>
                <c:pt idx="6">
                  <c:v>59.9</c:v>
                </c:pt>
                <c:pt idx="7">
                  <c:v>61.3</c:v>
                </c:pt>
                <c:pt idx="8">
                  <c:v>63.1</c:v>
                </c:pt>
                <c:pt idx="9">
                  <c:v>64.5</c:v>
                </c:pt>
                <c:pt idx="10">
                  <c:v>66.3</c:v>
                </c:pt>
                <c:pt idx="11">
                  <c:v>68.099999999999994</c:v>
                </c:pt>
                <c:pt idx="12">
                  <c:v>69.900000000000006</c:v>
                </c:pt>
                <c:pt idx="13">
                  <c:v>72.2</c:v>
                </c:pt>
                <c:pt idx="14">
                  <c:v>74.5</c:v>
                </c:pt>
              </c:numCache>
            </c:numRef>
          </c:yVal>
          <c:smooth val="0"/>
          <c:extLst>
            <c:ext xmlns:c16="http://schemas.microsoft.com/office/drawing/2014/chart" uri="{C3380CC4-5D6E-409C-BE32-E72D297353CC}">
              <c16:uniqueId val="{00000000-8313-4DC6-A82A-99615608B333}"/>
            </c:ext>
          </c:extLst>
        </c:ser>
        <c:dLbls>
          <c:showLegendKey val="0"/>
          <c:showVal val="0"/>
          <c:showCatName val="0"/>
          <c:showSerName val="0"/>
          <c:showPercent val="0"/>
          <c:showBubbleSize val="0"/>
        </c:dLbls>
        <c:axId val="2094734554"/>
        <c:axId val="2094734552"/>
      </c:scatterChart>
      <c:valAx>
        <c:axId val="2094734554"/>
        <c:scaling>
          <c:orientation val="minMax"/>
          <c:max val="1.85"/>
          <c:min val="1.45"/>
        </c:scaling>
        <c:delete val="0"/>
        <c:axPos val="b"/>
        <c:title>
          <c:tx>
            <c:rich>
              <a:bodyPr/>
              <a:lstStyle/>
              <a:p>
                <a:pPr>
                  <a:defRPr sz="900" b="0" i="0" u="none" strike="noStrike">
                    <a:solidFill>
                      <a:srgbClr val="000000"/>
                    </a:solidFill>
                    <a:latin typeface="+mn-lt"/>
                  </a:defRPr>
                </a:pPr>
                <a:r>
                  <a:rPr lang="en-US" sz="900" b="0" i="0" u="none" strike="noStrike">
                    <a:solidFill>
                      <a:srgbClr val="000000"/>
                    </a:solidFill>
                    <a:latin typeface="+mn-lt"/>
                  </a:rPr>
                  <a:t>Height (m)</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000000"/>
                </a:solidFill>
                <a:latin typeface="+mn-lt"/>
              </a:defRPr>
            </a:pPr>
            <a:endParaRPr lang="en-US"/>
          </a:p>
        </c:txPr>
        <c:crossAx val="2094734552"/>
        <c:crosses val="autoZero"/>
        <c:crossBetween val="midCat"/>
        <c:majorUnit val="0.1"/>
      </c:valAx>
      <c:valAx>
        <c:axId val="2094734552"/>
        <c:scaling>
          <c:orientation val="minMax"/>
          <c:max val="76"/>
          <c:min val="50"/>
        </c:scaling>
        <c:delete val="0"/>
        <c:axPos val="l"/>
        <c:majorGridlines>
          <c:spPr>
            <a:ln w="6350" cap="flat">
              <a:solidFill>
                <a:srgbClr val="E0E0E0"/>
              </a:solidFill>
              <a:prstDash val="solid"/>
              <a:round/>
            </a:ln>
          </c:spPr>
        </c:majorGridlines>
        <c:title>
          <c:tx>
            <c:rich>
              <a:bodyPr/>
              <a:lstStyle/>
              <a:p>
                <a:pPr>
                  <a:defRPr sz="900" b="0" i="0" u="none" strike="noStrike">
                    <a:solidFill>
                      <a:srgbClr val="000000"/>
                    </a:solidFill>
                    <a:latin typeface="+mn-lt"/>
                  </a:defRPr>
                </a:pPr>
                <a:r>
                  <a:rPr lang="en-US" sz="900" b="0" i="0" u="none" strike="noStrike">
                    <a:solidFill>
                      <a:srgbClr val="000000"/>
                    </a:solidFill>
                    <a:latin typeface="+mn-lt"/>
                  </a:rPr>
                  <a:t>Weight (kg)</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000000"/>
                </a:solidFill>
                <a:latin typeface="+mn-lt"/>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3194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On-screen poster (16:9, 13.33 x 7.5 in). Verdana throughout. Title 30 pt bold (may shrink to fit); presenting author 14 pt underlined; affiliations 11 pt; section headings 16 pt bold; body 12 pt; captions 11 pt (Table 01: / Figure 01: / Image 01:); table body 10 pt; sources and references 9 pt. Do not go below these sizes - cut words instead. The layout is flexible: boxes may be resized, moved or rearranged and extra figures, tables or images added (Table 02, Figure 03, Image 02...), as long as all section headings remain and the minimum sizes are kept.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RC logo" descr="/home/claude/w2/unp/ppt/media/image2.png"/>
          <p:cNvPicPr>
            <a:picLocks noChangeAspect="1"/>
          </p:cNvPicPr>
          <p:nvPr/>
        </p:nvPicPr>
        <p:blipFill>
          <a:blip r:embed="rId3"/>
          <a:stretch>
            <a:fillRect/>
          </a:stretch>
        </p:blipFill>
        <p:spPr>
          <a:xfrm>
            <a:off x="137160" y="0"/>
            <a:ext cx="1371600" cy="685800"/>
          </a:xfrm>
          <a:prstGeom prst="rect">
            <a:avLst/>
          </a:prstGeom>
        </p:spPr>
      </p:pic>
      <p:pic>
        <p:nvPicPr>
          <p:cNvPr id="3" name="SLTC logo" descr="/home/claude/w2/unp/ppt/media/image1.jpeg"/>
          <p:cNvPicPr>
            <a:picLocks noChangeAspect="1"/>
          </p:cNvPicPr>
          <p:nvPr/>
        </p:nvPicPr>
        <p:blipFill>
          <a:blip r:embed="rId4"/>
          <a:stretch>
            <a:fillRect/>
          </a:stretch>
        </p:blipFill>
        <p:spPr>
          <a:xfrm>
            <a:off x="9951415" y="73152"/>
            <a:ext cx="2011680" cy="633823"/>
          </a:xfrm>
          <a:prstGeom prst="rect">
            <a:avLst/>
          </a:prstGeom>
        </p:spPr>
      </p:pic>
      <p:sp>
        <p:nvSpPr>
          <p:cNvPr id="4" name="Text 0"/>
          <p:cNvSpPr txBox="1"/>
          <p:nvPr/>
        </p:nvSpPr>
        <p:spPr>
          <a:xfrm>
            <a:off x="3657600" y="137160"/>
            <a:ext cx="4876495" cy="365760"/>
          </a:xfrm>
          <a:prstGeom prst="rect">
            <a:avLst/>
          </a:prstGeom>
          <a:noFill/>
          <a:ln/>
        </p:spPr>
        <p:txBody>
          <a:bodyPr wrap="square" rtlCol="0" anchor="ctr"/>
          <a:lstStyle/>
          <a:p>
            <a:pPr marL="0" indent="0" algn="ctr">
              <a:buNone/>
            </a:pPr>
            <a:r>
              <a:rPr lang="en-US" sz="1100" b="1" dirty="0">
                <a:solidFill>
                  <a:srgbClr val="1F3864"/>
                </a:solidFill>
                <a:latin typeface="Verdana" pitchFamily="34" charset="0"/>
                <a:ea typeface="Verdana" pitchFamily="34" charset="-122"/>
                <a:cs typeface="Verdana" pitchFamily="34" charset="-120"/>
              </a:rPr>
              <a:t>&lt;IRC-2026_Abstract ID&gt;</a:t>
            </a:r>
            <a:endParaRPr lang="en-US" sz="1100" dirty="0"/>
          </a:p>
        </p:txBody>
      </p:sp>
      <p:sp>
        <p:nvSpPr>
          <p:cNvPr id="5" name="Title band"/>
          <p:cNvSpPr/>
          <p:nvPr/>
        </p:nvSpPr>
        <p:spPr>
          <a:xfrm>
            <a:off x="0" y="713232"/>
            <a:ext cx="12191695" cy="566928"/>
          </a:xfrm>
          <a:prstGeom prst="rect">
            <a:avLst/>
          </a:prstGeom>
          <a:solidFill>
            <a:srgbClr val="D0CECE"/>
          </a:solidFill>
          <a:ln/>
        </p:spPr>
      </p:sp>
      <p:sp>
        <p:nvSpPr>
          <p:cNvPr id="6" name="Poster title"/>
          <p:cNvSpPr txBox="1"/>
          <p:nvPr/>
        </p:nvSpPr>
        <p:spPr>
          <a:xfrm>
            <a:off x="274320" y="713232"/>
            <a:ext cx="11643055" cy="566928"/>
          </a:xfrm>
          <a:prstGeom prst="rect">
            <a:avLst/>
          </a:prstGeom>
          <a:noFill/>
          <a:ln/>
        </p:spPr>
        <p:txBody>
          <a:bodyPr wrap="square" lIns="0" tIns="0" rIns="0" bIns="0" rtlCol="0" anchor="ctr">
            <a:normAutofit/>
          </a:bodyPr>
          <a:lstStyle/>
          <a:p>
            <a:pPr marL="0" indent="0" algn="ctr">
              <a:buNone/>
            </a:pPr>
            <a:r>
              <a:rPr lang="en-US" sz="3000" b="1" dirty="0">
                <a:solidFill>
                  <a:srgbClr val="1F3864"/>
                </a:solidFill>
                <a:latin typeface="Verdana" pitchFamily="34" charset="0"/>
                <a:ea typeface="Verdana" pitchFamily="34" charset="-122"/>
                <a:cs typeface="Verdana" pitchFamily="34" charset="-120"/>
              </a:rPr>
              <a:t>Title of the Abstract</a:t>
            </a:r>
            <a:endParaRPr lang="en-US" sz="3000" dirty="0"/>
          </a:p>
        </p:txBody>
      </p:sp>
      <p:sp>
        <p:nvSpPr>
          <p:cNvPr id="7" name="Authors"/>
          <p:cNvSpPr txBox="1"/>
          <p:nvPr/>
        </p:nvSpPr>
        <p:spPr>
          <a:xfrm>
            <a:off x="274320" y="1298448"/>
            <a:ext cx="11643055" cy="457200"/>
          </a:xfrm>
          <a:prstGeom prst="rect">
            <a:avLst/>
          </a:prstGeom>
          <a:noFill/>
          <a:ln/>
        </p:spPr>
        <p:txBody>
          <a:bodyPr wrap="square" lIns="0" tIns="0" rIns="0" bIns="0" rtlCol="0" anchor="t"/>
          <a:lstStyle/>
          <a:p>
            <a:pPr marL="0" indent="0" algn="ctr">
              <a:buNone/>
            </a:pPr>
            <a:r>
              <a:rPr lang="en-US" sz="1400" b="1" u="sng" dirty="0">
                <a:solidFill>
                  <a:srgbClr val="000000"/>
                </a:solidFill>
                <a:latin typeface="Verdana" pitchFamily="34" charset="0"/>
                <a:ea typeface="Verdana" pitchFamily="34" charset="-122"/>
                <a:cs typeface="Verdana" pitchFamily="34" charset="-120"/>
              </a:rPr>
              <a:t>Presenting Co-Author</a:t>
            </a:r>
            <a:r>
              <a:rPr lang="en-US" sz="1400" b="1" baseline="30000" dirty="0">
                <a:solidFill>
                  <a:srgbClr val="000000"/>
                </a:solidFill>
                <a:latin typeface="Verdana" pitchFamily="34" charset="0"/>
                <a:ea typeface="Verdana" pitchFamily="34" charset="-122"/>
                <a:cs typeface="Verdana" pitchFamily="34" charset="-120"/>
              </a:rPr>
              <a:t>1*</a:t>
            </a:r>
            <a:r>
              <a:rPr lang="en-US" sz="1400" dirty="0">
                <a:solidFill>
                  <a:srgbClr val="000000"/>
                </a:solidFill>
                <a:latin typeface="Verdana" pitchFamily="34" charset="0"/>
                <a:ea typeface="Verdana" pitchFamily="34" charset="-122"/>
                <a:cs typeface="Verdana" pitchFamily="34" charset="-120"/>
              </a:rPr>
              <a:t>, Co-author Name</a:t>
            </a:r>
            <a:r>
              <a:rPr lang="en-US" sz="1400" baseline="30000" dirty="0">
                <a:solidFill>
                  <a:srgbClr val="000000"/>
                </a:solidFill>
                <a:latin typeface="Verdana" pitchFamily="34" charset="0"/>
                <a:ea typeface="Verdana" pitchFamily="34" charset="-122"/>
                <a:cs typeface="Verdana" pitchFamily="34" charset="-120"/>
              </a:rPr>
              <a:t>2</a:t>
            </a:r>
            <a:r>
              <a:rPr lang="en-US" sz="1400" dirty="0">
                <a:solidFill>
                  <a:srgbClr val="000000"/>
                </a:solidFill>
                <a:latin typeface="Verdana" pitchFamily="34" charset="0"/>
                <a:ea typeface="Verdana" pitchFamily="34" charset="-122"/>
                <a:cs typeface="Verdana" pitchFamily="34" charset="-120"/>
              </a:rPr>
              <a:t>, Co-author Name</a:t>
            </a:r>
            <a:r>
              <a:rPr lang="en-US" sz="1400" baseline="30000" dirty="0">
                <a:solidFill>
                  <a:srgbClr val="000000"/>
                </a:solidFill>
                <a:latin typeface="Verdana" pitchFamily="34" charset="0"/>
                <a:ea typeface="Verdana" pitchFamily="34" charset="-122"/>
                <a:cs typeface="Verdana" pitchFamily="34" charset="-120"/>
              </a:rPr>
              <a:t>1</a:t>
            </a:r>
            <a:endParaRPr lang="en-US" sz="1400" dirty="0"/>
          </a:p>
          <a:p>
            <a:pPr marL="0" indent="0" algn="ctr">
              <a:buNone/>
            </a:pPr>
            <a:r>
              <a:rPr lang="en-US" sz="1100" baseline="30000" dirty="0">
                <a:solidFill>
                  <a:srgbClr val="000000"/>
                </a:solidFill>
                <a:latin typeface="Verdana" pitchFamily="34" charset="0"/>
                <a:ea typeface="Verdana" pitchFamily="34" charset="-122"/>
                <a:cs typeface="Verdana" pitchFamily="34" charset="-120"/>
              </a:rPr>
              <a:t>1</a:t>
            </a:r>
            <a:r>
              <a:rPr lang="en-US" sz="1100" dirty="0">
                <a:solidFill>
                  <a:srgbClr val="000000"/>
                </a:solidFill>
                <a:latin typeface="Verdana" pitchFamily="34" charset="0"/>
                <a:ea typeface="Verdana" pitchFamily="34" charset="-122"/>
                <a:cs typeface="Verdana" pitchFamily="34" charset="-120"/>
              </a:rPr>
              <a:t>Department, Institution, City, Country   </a:t>
            </a:r>
            <a:r>
              <a:rPr lang="en-US" sz="1100" baseline="30000" dirty="0">
                <a:solidFill>
                  <a:srgbClr val="000000"/>
                </a:solidFill>
                <a:latin typeface="Verdana" pitchFamily="34" charset="0"/>
                <a:ea typeface="Verdana" pitchFamily="34" charset="-122"/>
                <a:cs typeface="Verdana" pitchFamily="34" charset="-120"/>
              </a:rPr>
              <a:t>2</a:t>
            </a:r>
            <a:r>
              <a:rPr lang="en-US" sz="1100" dirty="0">
                <a:solidFill>
                  <a:srgbClr val="000000"/>
                </a:solidFill>
                <a:latin typeface="Verdana" pitchFamily="34" charset="0"/>
                <a:ea typeface="Verdana" pitchFamily="34" charset="-122"/>
                <a:cs typeface="Verdana" pitchFamily="34" charset="-120"/>
              </a:rPr>
              <a:t>Department, Institution, City, Country   </a:t>
            </a:r>
            <a:r>
              <a:rPr lang="en-US" sz="1100" i="1" dirty="0">
                <a:solidFill>
                  <a:srgbClr val="000000"/>
                </a:solidFill>
                <a:latin typeface="Verdana" pitchFamily="34" charset="0"/>
                <a:ea typeface="Verdana" pitchFamily="34" charset="-122"/>
                <a:cs typeface="Verdana" pitchFamily="34" charset="-120"/>
              </a:rPr>
              <a:t>*author@institution.lk</a:t>
            </a:r>
            <a:endParaRPr lang="en-US" sz="1400" dirty="0"/>
          </a:p>
        </p:txBody>
      </p:sp>
      <p:sp>
        <p:nvSpPr>
          <p:cNvPr id="8" name="Heading Introduction"/>
          <p:cNvSpPr txBox="1"/>
          <p:nvPr/>
        </p:nvSpPr>
        <p:spPr>
          <a:xfrm>
            <a:off x="274320" y="1828800"/>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Introduction</a:t>
            </a:r>
            <a:endParaRPr lang="en-US" sz="1600" dirty="0"/>
          </a:p>
        </p:txBody>
      </p:sp>
      <p:sp>
        <p:nvSpPr>
          <p:cNvPr id="9" name="Text 5"/>
          <p:cNvSpPr txBox="1"/>
          <p:nvPr/>
        </p:nvSpPr>
        <p:spPr>
          <a:xfrm>
            <a:off x="274320" y="2157984"/>
            <a:ext cx="3728618" cy="1463040"/>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State the background, the problem and why it matters. Identify the gap in existing work that this study addresses, citing prior work as [1], [2].</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Context point one</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Context point two</a:t>
            </a:r>
            <a:endParaRPr lang="en-US" sz="1200" dirty="0"/>
          </a:p>
        </p:txBody>
      </p:sp>
      <p:sp>
        <p:nvSpPr>
          <p:cNvPr id="10" name="Heading Research Objectives"/>
          <p:cNvSpPr txBox="1"/>
          <p:nvPr/>
        </p:nvSpPr>
        <p:spPr>
          <a:xfrm>
            <a:off x="274320" y="3712464"/>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Research Objectives</a:t>
            </a:r>
            <a:endParaRPr lang="en-US" sz="1600" dirty="0"/>
          </a:p>
        </p:txBody>
      </p:sp>
      <p:sp>
        <p:nvSpPr>
          <p:cNvPr id="11" name="Text 7"/>
          <p:cNvSpPr txBox="1"/>
          <p:nvPr/>
        </p:nvSpPr>
        <p:spPr>
          <a:xfrm>
            <a:off x="274320" y="4041648"/>
            <a:ext cx="3728618" cy="731520"/>
          </a:xfrm>
          <a:prstGeom prst="rect">
            <a:avLst/>
          </a:prstGeom>
          <a:noFill/>
          <a:ln/>
        </p:spPr>
        <p:txBody>
          <a:bodyPr wrap="square" lIns="25400" tIns="25400" rIns="25400" bIns="25400" rtlCol="0" anchor="t"/>
          <a:lstStyle/>
          <a:p>
            <a:pPr marL="228600" indent="-228600" algn="l">
              <a:spcAft>
                <a:spcPts val="300"/>
              </a:spcAft>
              <a:buSzPct val="100000"/>
              <a:buFont typeface="+mj-lt"/>
              <a:buAutoNum type="arabicPeriod"/>
            </a:pPr>
            <a:r>
              <a:rPr lang="en-US" sz="1200" dirty="0">
                <a:solidFill>
                  <a:srgbClr val="000000"/>
                </a:solidFill>
                <a:latin typeface="Verdana" pitchFamily="34" charset="0"/>
                <a:ea typeface="Verdana" pitchFamily="34" charset="-122"/>
                <a:cs typeface="Verdana" pitchFamily="34" charset="-120"/>
              </a:rPr>
              <a:t>To ...</a:t>
            </a:r>
            <a:endParaRPr lang="en-US" sz="1200" dirty="0"/>
          </a:p>
          <a:p>
            <a:pPr marL="228600" indent="-228600" algn="l">
              <a:spcAft>
                <a:spcPts val="300"/>
              </a:spcAft>
              <a:buSzPct val="100000"/>
              <a:buFont typeface="+mj-lt"/>
              <a:buAutoNum type="arabicPeriod"/>
            </a:pPr>
            <a:r>
              <a:rPr lang="en-US" sz="1200" dirty="0">
                <a:solidFill>
                  <a:srgbClr val="000000"/>
                </a:solidFill>
                <a:latin typeface="Verdana" pitchFamily="34" charset="0"/>
                <a:ea typeface="Verdana" pitchFamily="34" charset="-122"/>
                <a:cs typeface="Verdana" pitchFamily="34" charset="-120"/>
              </a:rPr>
              <a:t>To ...</a:t>
            </a:r>
            <a:endParaRPr lang="en-US" sz="1200" dirty="0"/>
          </a:p>
          <a:p>
            <a:pPr marL="228600" indent="-228600" algn="l">
              <a:spcAft>
                <a:spcPts val="300"/>
              </a:spcAft>
              <a:buSzPct val="100000"/>
              <a:buFont typeface="+mj-lt"/>
              <a:buAutoNum type="arabicPeriod"/>
            </a:pPr>
            <a:r>
              <a:rPr lang="en-US" sz="1200" dirty="0">
                <a:solidFill>
                  <a:srgbClr val="000000"/>
                </a:solidFill>
                <a:latin typeface="Verdana" pitchFamily="34" charset="0"/>
                <a:ea typeface="Verdana" pitchFamily="34" charset="-122"/>
                <a:cs typeface="Verdana" pitchFamily="34" charset="-120"/>
              </a:rPr>
              <a:t>To ...</a:t>
            </a:r>
            <a:endParaRPr lang="en-US" sz="1200" dirty="0"/>
          </a:p>
        </p:txBody>
      </p:sp>
      <p:sp>
        <p:nvSpPr>
          <p:cNvPr id="12" name="Heading Methodology"/>
          <p:cNvSpPr txBox="1"/>
          <p:nvPr/>
        </p:nvSpPr>
        <p:spPr>
          <a:xfrm>
            <a:off x="274320" y="4864608"/>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Methodology</a:t>
            </a:r>
            <a:endParaRPr lang="en-US" sz="1600" dirty="0"/>
          </a:p>
        </p:txBody>
      </p:sp>
      <p:sp>
        <p:nvSpPr>
          <p:cNvPr id="13" name="Text 9"/>
          <p:cNvSpPr txBox="1"/>
          <p:nvPr/>
        </p:nvSpPr>
        <p:spPr>
          <a:xfrm>
            <a:off x="274320" y="5193792"/>
            <a:ext cx="3728618" cy="1143000"/>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Describe the data, materials, experimental set-up or system design, and the analysis methods. Refer to the method diagram in Figure 01.</a:t>
            </a:r>
            <a:endParaRPr lang="en-US" sz="1200" dirty="0"/>
          </a:p>
        </p:txBody>
      </p:sp>
      <p:sp>
        <p:nvSpPr>
          <p:cNvPr id="14" name="Figure 01 placeholder"/>
          <p:cNvSpPr/>
          <p:nvPr/>
        </p:nvSpPr>
        <p:spPr>
          <a:xfrm>
            <a:off x="4368698" y="1828800"/>
            <a:ext cx="3454298" cy="1325880"/>
          </a:xfrm>
          <a:prstGeom prst="rect">
            <a:avLst/>
          </a:prstGeom>
          <a:solidFill>
            <a:srgbClr val="F2F2F2"/>
          </a:solidFill>
          <a:ln w="12700">
            <a:solidFill>
              <a:srgbClr val="A6A6A6"/>
            </a:solidFill>
            <a:prstDash val="dash"/>
          </a:ln>
        </p:spPr>
      </p:sp>
      <p:sp>
        <p:nvSpPr>
          <p:cNvPr id="15" name="Text 11"/>
          <p:cNvSpPr txBox="1"/>
          <p:nvPr/>
        </p:nvSpPr>
        <p:spPr>
          <a:xfrm>
            <a:off x="4368698" y="1828800"/>
            <a:ext cx="3454298" cy="1325880"/>
          </a:xfrm>
          <a:prstGeom prst="rect">
            <a:avLst/>
          </a:prstGeom>
          <a:noFill/>
          <a:ln/>
        </p:spPr>
        <p:txBody>
          <a:bodyPr wrap="square" rtlCol="0" anchor="ctr"/>
          <a:lstStyle/>
          <a:p>
            <a:pPr marL="0" indent="0" algn="ctr">
              <a:buNone/>
            </a:pPr>
            <a:r>
              <a:rPr lang="en-US" sz="1100" dirty="0">
                <a:solidFill>
                  <a:srgbClr val="7F7F7F"/>
                </a:solidFill>
                <a:latin typeface="Verdana" pitchFamily="34" charset="0"/>
                <a:ea typeface="Verdana" pitchFamily="34" charset="-122"/>
                <a:cs typeface="Verdana" pitchFamily="34" charset="-120"/>
              </a:rPr>
              <a:t>Insert method diagram / image</a:t>
            </a:r>
            <a:endParaRPr lang="en-US" sz="1100" dirty="0"/>
          </a:p>
        </p:txBody>
      </p:sp>
      <p:sp>
        <p:nvSpPr>
          <p:cNvPr id="16" name="Text 12"/>
          <p:cNvSpPr txBox="1"/>
          <p:nvPr/>
        </p:nvSpPr>
        <p:spPr>
          <a:xfrm>
            <a:off x="4231538" y="3200400"/>
            <a:ext cx="3728618" cy="201168"/>
          </a:xfrm>
          <a:prstGeom prst="rect">
            <a:avLst/>
          </a:prstGeom>
          <a:noFill/>
          <a:ln/>
        </p:spPr>
        <p:txBody>
          <a:bodyPr wrap="square" lIns="0" tIns="0" rIns="0" bIns="0" rtlCol="0" anchor="t"/>
          <a:lstStyle/>
          <a:p>
            <a:pPr marL="0" indent="0" algn="ctr">
              <a:buNone/>
            </a:pPr>
            <a:r>
              <a:rPr lang="en-US" sz="1100" b="1" dirty="0">
                <a:solidFill>
                  <a:srgbClr val="000000"/>
                </a:solidFill>
                <a:latin typeface="Verdana" pitchFamily="34" charset="0"/>
                <a:ea typeface="Verdana" pitchFamily="34" charset="-122"/>
                <a:cs typeface="Verdana" pitchFamily="34" charset="-120"/>
              </a:rPr>
              <a:t>Figure 01: </a:t>
            </a:r>
            <a:r>
              <a:rPr lang="en-US" sz="1100" dirty="0">
                <a:solidFill>
                  <a:srgbClr val="000000"/>
                </a:solidFill>
                <a:latin typeface="Verdana" pitchFamily="34" charset="0"/>
                <a:ea typeface="Verdana" pitchFamily="34" charset="-122"/>
                <a:cs typeface="Verdana" pitchFamily="34" charset="-120"/>
              </a:rPr>
              <a:t>Method overview (caption)</a:t>
            </a:r>
            <a:endParaRPr lang="en-US" sz="1100" dirty="0"/>
          </a:p>
        </p:txBody>
      </p:sp>
      <p:sp>
        <p:nvSpPr>
          <p:cNvPr id="17" name="Text 13"/>
          <p:cNvSpPr txBox="1"/>
          <p:nvPr/>
        </p:nvSpPr>
        <p:spPr>
          <a:xfrm>
            <a:off x="4231538" y="3401568"/>
            <a:ext cx="3728618" cy="164592"/>
          </a:xfrm>
          <a:prstGeom prst="rect">
            <a:avLst/>
          </a:prstGeom>
          <a:noFill/>
          <a:ln/>
        </p:spPr>
        <p:txBody>
          <a:bodyPr wrap="square" lIns="0" tIns="0" rIns="0" bIns="0" rtlCol="0" anchor="t"/>
          <a:lstStyle/>
          <a:p>
            <a:pPr marL="0" indent="0" algn="ctr">
              <a:buNone/>
            </a:pPr>
            <a:r>
              <a:rPr lang="en-US" sz="900" i="1" dirty="0">
                <a:solidFill>
                  <a:srgbClr val="404040"/>
                </a:solidFill>
                <a:latin typeface="Verdana" pitchFamily="34" charset="0"/>
                <a:ea typeface="Verdana" pitchFamily="34" charset="-122"/>
                <a:cs typeface="Verdana" pitchFamily="34" charset="-120"/>
              </a:rPr>
              <a:t>Source: footnote or data source</a:t>
            </a:r>
            <a:endParaRPr lang="en-US" sz="900" dirty="0"/>
          </a:p>
        </p:txBody>
      </p:sp>
      <p:sp>
        <p:nvSpPr>
          <p:cNvPr id="18" name="Heading Results and Discussions"/>
          <p:cNvSpPr txBox="1"/>
          <p:nvPr/>
        </p:nvSpPr>
        <p:spPr>
          <a:xfrm>
            <a:off x="4231538" y="3621024"/>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Results and Discussions</a:t>
            </a:r>
            <a:endParaRPr lang="en-US" sz="1600" dirty="0"/>
          </a:p>
        </p:txBody>
      </p:sp>
      <p:sp>
        <p:nvSpPr>
          <p:cNvPr id="19" name="Text 15"/>
          <p:cNvSpPr txBox="1"/>
          <p:nvPr/>
        </p:nvSpPr>
        <p:spPr>
          <a:xfrm>
            <a:off x="4231538" y="3950208"/>
            <a:ext cx="3728618" cy="384048"/>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Present the most important results and explain what they show.</a:t>
            </a:r>
            <a:endParaRPr lang="en-US" sz="1200" dirty="0"/>
          </a:p>
        </p:txBody>
      </p:sp>
      <p:sp>
        <p:nvSpPr>
          <p:cNvPr id="20" name="Text 16"/>
          <p:cNvSpPr txBox="1"/>
          <p:nvPr/>
        </p:nvSpPr>
        <p:spPr>
          <a:xfrm>
            <a:off x="4231538" y="4370832"/>
            <a:ext cx="3728618" cy="201168"/>
          </a:xfrm>
          <a:prstGeom prst="rect">
            <a:avLst/>
          </a:prstGeom>
          <a:noFill/>
          <a:ln/>
        </p:spPr>
        <p:txBody>
          <a:bodyPr wrap="square" lIns="0" tIns="0" rIns="0" bIns="0" rtlCol="0" anchor="t"/>
          <a:lstStyle/>
          <a:p>
            <a:pPr marL="0" indent="0" algn="ctr">
              <a:buNone/>
            </a:pPr>
            <a:r>
              <a:rPr lang="en-US" sz="1100" b="1" dirty="0">
                <a:solidFill>
                  <a:srgbClr val="000000"/>
                </a:solidFill>
                <a:latin typeface="Verdana" pitchFamily="34" charset="0"/>
                <a:ea typeface="Verdana" pitchFamily="34" charset="-122"/>
                <a:cs typeface="Verdana" pitchFamily="34" charset="-120"/>
              </a:rPr>
              <a:t>Table 01: </a:t>
            </a:r>
            <a:r>
              <a:rPr lang="en-US" sz="1100" dirty="0">
                <a:solidFill>
                  <a:srgbClr val="000000"/>
                </a:solidFill>
                <a:latin typeface="Verdana" pitchFamily="34" charset="0"/>
                <a:ea typeface="Verdana" pitchFamily="34" charset="-122"/>
                <a:cs typeface="Verdana" pitchFamily="34" charset="-120"/>
              </a:rPr>
              <a:t>Title of the table</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368698" y="4590288"/>
          <a:ext cx="3454299" cy="877824"/>
        </p:xfrm>
        <a:graphic>
          <a:graphicData uri="http://schemas.openxmlformats.org/drawingml/2006/table">
            <a:tbl>
              <a:tblPr/>
              <a:tblGrid>
                <a:gridCol w="1151433">
                  <a:extLst>
                    <a:ext uri="{9D8B030D-6E8A-4147-A177-3AD203B41FA5}">
                      <a16:colId xmlns:a16="http://schemas.microsoft.com/office/drawing/2014/main" val="20000"/>
                    </a:ext>
                  </a:extLst>
                </a:gridCol>
                <a:gridCol w="1151433">
                  <a:extLst>
                    <a:ext uri="{9D8B030D-6E8A-4147-A177-3AD203B41FA5}">
                      <a16:colId xmlns:a16="http://schemas.microsoft.com/office/drawing/2014/main" val="20001"/>
                    </a:ext>
                  </a:extLst>
                </a:gridCol>
                <a:gridCol w="1151433">
                  <a:extLst>
                    <a:ext uri="{9D8B030D-6E8A-4147-A177-3AD203B41FA5}">
                      <a16:colId xmlns:a16="http://schemas.microsoft.com/office/drawing/2014/main" val="20002"/>
                    </a:ext>
                  </a:extLst>
                </a:gridCol>
              </a:tblGrid>
              <a:tr h="219456">
                <a:tc>
                  <a:txBody>
                    <a:bodyPr/>
                    <a:lstStyle/>
                    <a:p>
                      <a:pPr marL="0" indent="0" algn="ctr">
                        <a:buNone/>
                      </a:pPr>
                      <a:r>
                        <a:rPr lang="en-US" sz="1000" b="1" dirty="0">
                          <a:solidFill>
                            <a:srgbClr val="FFFFFF"/>
                          </a:solidFill>
                          <a:latin typeface="Verdana" pitchFamily="34" charset="0"/>
                          <a:ea typeface="Verdana" pitchFamily="34" charset="-122"/>
                          <a:cs typeface="Verdana" pitchFamily="34" charset="-120"/>
                        </a:rPr>
                        <a:t>Title 01</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ctr">
                        <a:buNone/>
                      </a:pPr>
                      <a:r>
                        <a:rPr lang="en-US" sz="1000" b="1" dirty="0">
                          <a:solidFill>
                            <a:srgbClr val="FFFFFF"/>
                          </a:solidFill>
                          <a:latin typeface="Verdana" pitchFamily="34" charset="0"/>
                          <a:ea typeface="Verdana" pitchFamily="34" charset="-122"/>
                          <a:cs typeface="Verdana" pitchFamily="34" charset="-120"/>
                        </a:rPr>
                        <a:t>Title 02</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lgn="ctr">
                        <a:buNone/>
                      </a:pPr>
                      <a:r>
                        <a:rPr lang="en-US" sz="1000" b="1" dirty="0">
                          <a:solidFill>
                            <a:srgbClr val="FFFFFF"/>
                          </a:solidFill>
                          <a:latin typeface="Verdana" pitchFamily="34" charset="0"/>
                          <a:ea typeface="Verdana" pitchFamily="34" charset="-122"/>
                          <a:cs typeface="Verdana" pitchFamily="34" charset="-120"/>
                        </a:rPr>
                        <a:t>Title 03</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219456">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Data 01</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0.00</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0.00</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219456">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Data 02</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0.00</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0.00</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19456">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Data 03</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0.00</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lgn="ctr">
                        <a:buNone/>
                      </a:pPr>
                      <a:r>
                        <a:rPr lang="en-US" sz="1000" dirty="0">
                          <a:solidFill>
                            <a:srgbClr val="000000"/>
                          </a:solidFill>
                          <a:latin typeface="Verdana" pitchFamily="34" charset="0"/>
                          <a:ea typeface="Verdana" pitchFamily="34" charset="-122"/>
                          <a:cs typeface="Verdana" pitchFamily="34" charset="-120"/>
                        </a:rPr>
                        <a:t>0.00</a:t>
                      </a:r>
                      <a:endParaRPr lang="en-US" sz="1000" dirty="0">
                        <a:latin typeface="Verdana" charset="0"/>
                        <a:ea typeface="Verdana" charset="0"/>
                        <a:cs typeface="Verdana" charset="0"/>
                      </a:endParaRPr>
                    </a:p>
                  </a:txBody>
                  <a:tcPr marL="27432" marR="2743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bl>
          </a:graphicData>
        </a:graphic>
      </p:graphicFrame>
      <p:sp>
        <p:nvSpPr>
          <p:cNvPr id="22" name="Text 17"/>
          <p:cNvSpPr txBox="1"/>
          <p:nvPr/>
        </p:nvSpPr>
        <p:spPr>
          <a:xfrm>
            <a:off x="4231538" y="5504688"/>
            <a:ext cx="3728618" cy="164592"/>
          </a:xfrm>
          <a:prstGeom prst="rect">
            <a:avLst/>
          </a:prstGeom>
          <a:noFill/>
          <a:ln/>
        </p:spPr>
        <p:txBody>
          <a:bodyPr wrap="square" lIns="0" tIns="0" rIns="0" bIns="0" rtlCol="0" anchor="t"/>
          <a:lstStyle/>
          <a:p>
            <a:pPr marL="0" indent="0" algn="ctr">
              <a:buNone/>
            </a:pPr>
            <a:r>
              <a:rPr lang="en-US" sz="900" i="1" dirty="0">
                <a:solidFill>
                  <a:srgbClr val="404040"/>
                </a:solidFill>
                <a:latin typeface="Verdana" pitchFamily="34" charset="0"/>
                <a:ea typeface="Verdana" pitchFamily="34" charset="-122"/>
                <a:cs typeface="Verdana" pitchFamily="34" charset="-120"/>
              </a:rPr>
              <a:t>Source: footnote or data source</a:t>
            </a:r>
            <a:endParaRPr lang="en-US" sz="900" dirty="0"/>
          </a:p>
        </p:txBody>
      </p:sp>
      <p:sp>
        <p:nvSpPr>
          <p:cNvPr id="23" name="Heading Acknowledgement"/>
          <p:cNvSpPr txBox="1"/>
          <p:nvPr/>
        </p:nvSpPr>
        <p:spPr>
          <a:xfrm>
            <a:off x="4231538" y="5742432"/>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Acknowledgement</a:t>
            </a:r>
            <a:endParaRPr lang="en-US" sz="1600" dirty="0"/>
          </a:p>
        </p:txBody>
      </p:sp>
      <p:sp>
        <p:nvSpPr>
          <p:cNvPr id="24" name="Text 19"/>
          <p:cNvSpPr txBox="1"/>
          <p:nvPr/>
        </p:nvSpPr>
        <p:spPr>
          <a:xfrm>
            <a:off x="4231538" y="6071616"/>
            <a:ext cx="3728618" cy="384048"/>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Acknowledge funding bodies, grant numbers and supporters.</a:t>
            </a:r>
            <a:endParaRPr lang="en-US" sz="1200" dirty="0"/>
          </a:p>
        </p:txBody>
      </p:sp>
      <p:graphicFrame>
        <p:nvGraphicFramePr>
          <p:cNvPr id="25" name="Figure 02 chart"/>
          <p:cNvGraphicFramePr/>
          <p:nvPr/>
        </p:nvGraphicFramePr>
        <p:xfrm>
          <a:off x="8234477" y="1828800"/>
          <a:ext cx="3637178" cy="1417320"/>
        </p:xfrm>
        <a:graphic>
          <a:graphicData uri="http://schemas.openxmlformats.org/drawingml/2006/chart">
            <c:chart xmlns:c="http://schemas.openxmlformats.org/drawingml/2006/chart" xmlns:r="http://schemas.openxmlformats.org/officeDocument/2006/relationships" r:id="rId5"/>
          </a:graphicData>
        </a:graphic>
      </p:graphicFrame>
      <p:sp>
        <p:nvSpPr>
          <p:cNvPr id="26" name="Text 20"/>
          <p:cNvSpPr txBox="1"/>
          <p:nvPr/>
        </p:nvSpPr>
        <p:spPr>
          <a:xfrm>
            <a:off x="8188757" y="3273552"/>
            <a:ext cx="3728618" cy="201168"/>
          </a:xfrm>
          <a:prstGeom prst="rect">
            <a:avLst/>
          </a:prstGeom>
          <a:noFill/>
          <a:ln/>
        </p:spPr>
        <p:txBody>
          <a:bodyPr wrap="square" lIns="0" tIns="0" rIns="0" bIns="0" rtlCol="0" anchor="t"/>
          <a:lstStyle/>
          <a:p>
            <a:pPr marL="0" indent="0" algn="ctr">
              <a:buNone/>
            </a:pPr>
            <a:r>
              <a:rPr lang="en-US" sz="1100" b="1" dirty="0">
                <a:solidFill>
                  <a:srgbClr val="000000"/>
                </a:solidFill>
                <a:latin typeface="Verdana" pitchFamily="34" charset="0"/>
                <a:ea typeface="Verdana" pitchFamily="34" charset="-122"/>
                <a:cs typeface="Verdana" pitchFamily="34" charset="-120"/>
              </a:rPr>
              <a:t>Figure 02: </a:t>
            </a:r>
            <a:r>
              <a:rPr lang="en-US" sz="1100" dirty="0">
                <a:solidFill>
                  <a:srgbClr val="000000"/>
                </a:solidFill>
                <a:latin typeface="Verdana" pitchFamily="34" charset="0"/>
                <a:ea typeface="Verdana" pitchFamily="34" charset="-122"/>
                <a:cs typeface="Verdana" pitchFamily="34" charset="-120"/>
              </a:rPr>
              <a:t>Result chart (caption)</a:t>
            </a:r>
            <a:endParaRPr lang="en-US" sz="1100" dirty="0"/>
          </a:p>
        </p:txBody>
      </p:sp>
      <p:sp>
        <p:nvSpPr>
          <p:cNvPr id="27" name="Text 21"/>
          <p:cNvSpPr txBox="1"/>
          <p:nvPr/>
        </p:nvSpPr>
        <p:spPr>
          <a:xfrm>
            <a:off x="8188757" y="3474720"/>
            <a:ext cx="3728618" cy="164592"/>
          </a:xfrm>
          <a:prstGeom prst="rect">
            <a:avLst/>
          </a:prstGeom>
          <a:noFill/>
          <a:ln/>
        </p:spPr>
        <p:txBody>
          <a:bodyPr wrap="square" lIns="0" tIns="0" rIns="0" bIns="0" rtlCol="0" anchor="t"/>
          <a:lstStyle/>
          <a:p>
            <a:pPr marL="0" indent="0" algn="ctr">
              <a:buNone/>
            </a:pPr>
            <a:r>
              <a:rPr lang="en-US" sz="900" i="1" dirty="0">
                <a:solidFill>
                  <a:srgbClr val="404040"/>
                </a:solidFill>
                <a:latin typeface="Verdana" pitchFamily="34" charset="0"/>
                <a:ea typeface="Verdana" pitchFamily="34" charset="-122"/>
                <a:cs typeface="Verdana" pitchFamily="34" charset="-120"/>
              </a:rPr>
              <a:t>Source: footnote or data source</a:t>
            </a:r>
            <a:endParaRPr lang="en-US" sz="900" dirty="0"/>
          </a:p>
        </p:txBody>
      </p:sp>
      <p:sp>
        <p:nvSpPr>
          <p:cNvPr id="28" name="Text 22"/>
          <p:cNvSpPr txBox="1"/>
          <p:nvPr/>
        </p:nvSpPr>
        <p:spPr>
          <a:xfrm>
            <a:off x="8188757" y="3694176"/>
            <a:ext cx="3728618" cy="384048"/>
          </a:xfrm>
          <a:prstGeom prst="rect">
            <a:avLst/>
          </a:prstGeom>
          <a:noFill/>
          <a:ln/>
        </p:spPr>
        <p:txBody>
          <a:bodyPr wrap="square" lIns="25400" tIns="25400" rIns="25400" bIns="25400" rtlCol="0" anchor="t"/>
          <a:lstStyle/>
          <a:p>
            <a:pPr marL="0" indent="0" algn="just">
              <a:spcAft>
                <a:spcPts val="300"/>
              </a:spcAft>
              <a:buNone/>
            </a:pPr>
            <a:r>
              <a:rPr lang="en-US" sz="1200" dirty="0">
                <a:solidFill>
                  <a:srgbClr val="000000"/>
                </a:solidFill>
                <a:latin typeface="Verdana" pitchFamily="34" charset="0"/>
                <a:ea typeface="Verdana" pitchFamily="34" charset="-122"/>
                <a:cs typeface="Verdana" pitchFamily="34" charset="-120"/>
              </a:rPr>
              <a:t>Interpret the results: trends, significance and limitations.</a:t>
            </a:r>
            <a:endParaRPr lang="en-US" sz="1200" dirty="0"/>
          </a:p>
        </p:txBody>
      </p:sp>
      <p:sp>
        <p:nvSpPr>
          <p:cNvPr id="29" name="Heading Conclusions"/>
          <p:cNvSpPr txBox="1"/>
          <p:nvPr/>
        </p:nvSpPr>
        <p:spPr>
          <a:xfrm>
            <a:off x="8188757" y="4133088"/>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Conclusions</a:t>
            </a:r>
            <a:endParaRPr lang="en-US" sz="1600" dirty="0"/>
          </a:p>
        </p:txBody>
      </p:sp>
      <p:sp>
        <p:nvSpPr>
          <p:cNvPr id="30" name="Text 24"/>
          <p:cNvSpPr txBox="1"/>
          <p:nvPr/>
        </p:nvSpPr>
        <p:spPr>
          <a:xfrm>
            <a:off x="8188757" y="4462272"/>
            <a:ext cx="3728618" cy="731520"/>
          </a:xfrm>
          <a:prstGeom prst="rect">
            <a:avLst/>
          </a:prstGeom>
          <a:noFill/>
          <a:ln/>
        </p:spPr>
        <p:txBody>
          <a:bodyPr wrap="square" lIns="25400" tIns="25400" rIns="25400" bIns="25400" rtlCol="0" anchor="t"/>
          <a:lstStyle/>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Key conclusion one</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Key conclusion two</a:t>
            </a:r>
            <a:endParaRPr lang="en-US" sz="1200" dirty="0"/>
          </a:p>
          <a:p>
            <a:pPr marL="177800" indent="-177800" algn="l">
              <a:spcAft>
                <a:spcPts val="300"/>
              </a:spcAft>
              <a:buSzPct val="100000"/>
              <a:buChar char="•"/>
            </a:pPr>
            <a:r>
              <a:rPr lang="en-US" sz="1200" dirty="0">
                <a:solidFill>
                  <a:srgbClr val="000000"/>
                </a:solidFill>
                <a:latin typeface="Verdana" pitchFamily="34" charset="0"/>
                <a:ea typeface="Verdana" pitchFamily="34" charset="-122"/>
                <a:cs typeface="Verdana" pitchFamily="34" charset="-120"/>
              </a:rPr>
              <a:t>Future work</a:t>
            </a:r>
            <a:endParaRPr lang="en-US" sz="1200" dirty="0"/>
          </a:p>
        </p:txBody>
      </p:sp>
      <p:sp>
        <p:nvSpPr>
          <p:cNvPr id="31" name="Heading References"/>
          <p:cNvSpPr txBox="1"/>
          <p:nvPr/>
        </p:nvSpPr>
        <p:spPr>
          <a:xfrm>
            <a:off x="8188757" y="5285232"/>
            <a:ext cx="3728618" cy="292608"/>
          </a:xfrm>
          <a:prstGeom prst="rect">
            <a:avLst/>
          </a:prstGeom>
          <a:solidFill>
            <a:srgbClr val="1F3864"/>
          </a:solidFill>
          <a:ln/>
        </p:spPr>
        <p:txBody>
          <a:bodyPr wrap="square" lIns="76200" tIns="0" rIns="76200" bIns="0" rtlCol="0" anchor="ctr"/>
          <a:lstStyle/>
          <a:p>
            <a:pPr marL="0" indent="0">
              <a:buNone/>
            </a:pPr>
            <a:r>
              <a:rPr lang="en-US" sz="1600" b="1" dirty="0">
                <a:solidFill>
                  <a:srgbClr val="FFFFFF"/>
                </a:solidFill>
                <a:latin typeface="Verdana" pitchFamily="34" charset="0"/>
                <a:ea typeface="Verdana" pitchFamily="34" charset="-122"/>
                <a:cs typeface="Verdana" pitchFamily="34" charset="-120"/>
              </a:rPr>
              <a:t>References</a:t>
            </a:r>
            <a:endParaRPr lang="en-US" sz="1600" dirty="0"/>
          </a:p>
        </p:txBody>
      </p:sp>
      <p:sp>
        <p:nvSpPr>
          <p:cNvPr id="32" name="Text 26"/>
          <p:cNvSpPr txBox="1"/>
          <p:nvPr/>
        </p:nvSpPr>
        <p:spPr>
          <a:xfrm>
            <a:off x="8188757" y="5614416"/>
            <a:ext cx="3728618" cy="868680"/>
          </a:xfrm>
          <a:prstGeom prst="rect">
            <a:avLst/>
          </a:prstGeom>
          <a:noFill/>
          <a:ln/>
        </p:spPr>
        <p:txBody>
          <a:bodyPr wrap="square" lIns="25400" tIns="25400" rIns="25400" bIns="25400" rtlCol="0" anchor="t"/>
          <a:lstStyle/>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[1] A. Author, B. Author, and C. Author, “Title of article,” </a:t>
            </a:r>
            <a:r>
              <a:rPr lang="en-US" sz="900" i="1" dirty="0">
                <a:solidFill>
                  <a:srgbClr val="000000"/>
                </a:solidFill>
                <a:latin typeface="Verdana" pitchFamily="34" charset="0"/>
                <a:ea typeface="Verdana" pitchFamily="34" charset="-122"/>
                <a:cs typeface="Verdana" pitchFamily="34" charset="-120"/>
              </a:rPr>
              <a:t>Abbrev. Journal</a:t>
            </a:r>
            <a:r>
              <a:rPr lang="en-US" sz="900" dirty="0">
                <a:solidFill>
                  <a:srgbClr val="000000"/>
                </a:solidFill>
                <a:latin typeface="Verdana" pitchFamily="34" charset="0"/>
                <a:ea typeface="Verdana" pitchFamily="34" charset="-122"/>
                <a:cs typeface="Verdana" pitchFamily="34" charset="-120"/>
              </a:rPr>
              <a:t>, vol. x, no. x, pp. xx–xx, Year.</a:t>
            </a:r>
            <a:endParaRPr lang="en-US" sz="900" dirty="0"/>
          </a:p>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[2] A. Author, </a:t>
            </a:r>
            <a:r>
              <a:rPr lang="en-US" sz="900" i="1" dirty="0">
                <a:solidFill>
                  <a:srgbClr val="000000"/>
                </a:solidFill>
                <a:latin typeface="Verdana" pitchFamily="34" charset="0"/>
                <a:ea typeface="Verdana" pitchFamily="34" charset="-122"/>
                <a:cs typeface="Verdana" pitchFamily="34" charset="-120"/>
              </a:rPr>
              <a:t>Title of Book</a:t>
            </a:r>
            <a:r>
              <a:rPr lang="en-US" sz="900" dirty="0">
                <a:solidFill>
                  <a:srgbClr val="000000"/>
                </a:solidFill>
                <a:latin typeface="Verdana" pitchFamily="34" charset="0"/>
                <a:ea typeface="Verdana" pitchFamily="34" charset="-122"/>
                <a:cs typeface="Verdana" pitchFamily="34" charset="-120"/>
              </a:rPr>
              <a:t>, xth ed. City: Publisher, Year.</a:t>
            </a:r>
            <a:endParaRPr lang="en-US" sz="900" dirty="0"/>
          </a:p>
          <a:p>
            <a:pPr marL="0" indent="0" algn="l">
              <a:spcAft>
                <a:spcPts val="200"/>
              </a:spcAft>
              <a:buNone/>
            </a:pPr>
            <a:r>
              <a:rPr lang="en-US" sz="900" dirty="0">
                <a:solidFill>
                  <a:srgbClr val="000000"/>
                </a:solidFill>
                <a:latin typeface="Verdana" pitchFamily="34" charset="0"/>
                <a:ea typeface="Verdana" pitchFamily="34" charset="-122"/>
                <a:cs typeface="Verdana" pitchFamily="34" charset="-120"/>
              </a:rPr>
              <a:t>[3] A. Author, “Title of paper,” in </a:t>
            </a:r>
            <a:r>
              <a:rPr lang="en-US" sz="900" i="1" dirty="0">
                <a:solidFill>
                  <a:srgbClr val="000000"/>
                </a:solidFill>
                <a:latin typeface="Verdana" pitchFamily="34" charset="0"/>
                <a:ea typeface="Verdana" pitchFamily="34" charset="-122"/>
                <a:cs typeface="Verdana" pitchFamily="34" charset="-120"/>
              </a:rPr>
              <a:t>Proc. Conf. Name</a:t>
            </a:r>
            <a:r>
              <a:rPr lang="en-US" sz="900" dirty="0">
                <a:solidFill>
                  <a:srgbClr val="000000"/>
                </a:solidFill>
                <a:latin typeface="Verdana" pitchFamily="34" charset="0"/>
                <a:ea typeface="Verdana" pitchFamily="34" charset="-122"/>
                <a:cs typeface="Verdana" pitchFamily="34" charset="-120"/>
              </a:rPr>
              <a:t>, City, Year, pp. xx–xx.</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RC logo" descr="/home/claude/w2/unp/ppt/media/image2.png"/>
          <p:cNvPicPr>
            <a:picLocks noChangeAspect="1"/>
          </p:cNvPicPr>
          <p:nvPr/>
        </p:nvPicPr>
        <p:blipFill>
          <a:blip r:embed="rId3"/>
          <a:stretch>
            <a:fillRect/>
          </a:stretch>
        </p:blipFill>
        <p:spPr>
          <a:xfrm>
            <a:off x="137160" y="0"/>
            <a:ext cx="1371600" cy="685800"/>
          </a:xfrm>
          <a:prstGeom prst="rect">
            <a:avLst/>
          </a:prstGeom>
        </p:spPr>
      </p:pic>
      <p:pic>
        <p:nvPicPr>
          <p:cNvPr id="3" name="SLTC logo" descr="/home/claude/w2/unp/ppt/media/image1.jpeg"/>
          <p:cNvPicPr>
            <a:picLocks noChangeAspect="1"/>
          </p:cNvPicPr>
          <p:nvPr/>
        </p:nvPicPr>
        <p:blipFill>
          <a:blip r:embed="rId4"/>
          <a:stretch>
            <a:fillRect/>
          </a:stretch>
        </p:blipFill>
        <p:spPr>
          <a:xfrm>
            <a:off x="9951415" y="73152"/>
            <a:ext cx="2011680" cy="633823"/>
          </a:xfrm>
          <a:prstGeom prst="rect">
            <a:avLst/>
          </a:prstGeom>
        </p:spPr>
      </p:pic>
      <p:sp>
        <p:nvSpPr>
          <p:cNvPr id="4" name="Text 0"/>
          <p:cNvSpPr txBox="1"/>
          <p:nvPr/>
        </p:nvSpPr>
        <p:spPr>
          <a:xfrm>
            <a:off x="1828800" y="91440"/>
            <a:ext cx="7985455" cy="594360"/>
          </a:xfrm>
          <a:prstGeom prst="rect">
            <a:avLst/>
          </a:prstGeom>
          <a:noFill/>
          <a:ln/>
        </p:spPr>
        <p:txBody>
          <a:bodyPr wrap="square" rtlCol="0" anchor="ctr"/>
          <a:lstStyle/>
          <a:p>
            <a:pPr marL="0" indent="0" algn="ctr">
              <a:buNone/>
            </a:pPr>
            <a:r>
              <a:rPr lang="en-US" sz="3200" b="1" dirty="0">
                <a:solidFill>
                  <a:srgbClr val="1F3864"/>
                </a:solidFill>
                <a:latin typeface="Verdana" pitchFamily="34" charset="0"/>
                <a:ea typeface="Verdana" pitchFamily="34" charset="-122"/>
                <a:cs typeface="Verdana" pitchFamily="34" charset="-120"/>
              </a:rPr>
              <a:t>Poster Slide Guide</a:t>
            </a:r>
            <a:endParaRPr lang="en-US" sz="3200" dirty="0"/>
          </a:p>
        </p:txBody>
      </p:sp>
      <p:sp>
        <p:nvSpPr>
          <p:cNvPr id="5" name="Text 1"/>
          <p:cNvSpPr txBox="1"/>
          <p:nvPr/>
        </p:nvSpPr>
        <p:spPr>
          <a:xfrm>
            <a:off x="457200" y="777240"/>
            <a:ext cx="11277295" cy="411480"/>
          </a:xfrm>
          <a:prstGeom prst="rect">
            <a:avLst/>
          </a:prstGeom>
          <a:noFill/>
          <a:ln/>
        </p:spPr>
        <p:txBody>
          <a:bodyPr wrap="square" rtlCol="0" anchor="ctr"/>
          <a:lstStyle/>
          <a:p>
            <a:pPr marL="0" indent="0" algn="ctr">
              <a:buNone/>
            </a:pPr>
            <a:r>
              <a:rPr lang="en-US" sz="1400" i="1" dirty="0">
                <a:solidFill>
                  <a:srgbClr val="C00000"/>
                </a:solidFill>
                <a:latin typeface="Verdana" pitchFamily="34" charset="0"/>
                <a:ea typeface="Verdana" pitchFamily="34" charset="-122"/>
                <a:cs typeface="Verdana" pitchFamily="34" charset="-120"/>
              </a:rPr>
              <a:t>Note: Slide 1 is your poster. Keep it as one 16:9 slide, use Verdana and keep the colour scheme. Delete this guide slide before submitting.</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4084320"/>
        </p:xfrm>
        <a:graphic>
          <a:graphicData uri="http://schemas.openxmlformats.org/drawingml/2006/table">
            <a:tbl>
              <a:tblPr/>
              <a:tblGrid>
                <a:gridCol w="28346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5790895">
                  <a:extLst>
                    <a:ext uri="{9D8B030D-6E8A-4147-A177-3AD203B41FA5}">
                      <a16:colId xmlns:a16="http://schemas.microsoft.com/office/drawing/2014/main" val="20002"/>
                    </a:ext>
                  </a:extLst>
                </a:gridCol>
              </a:tblGrid>
              <a:tr h="438912">
                <a:tc>
                  <a:txBody>
                    <a:bodyPr/>
                    <a:lstStyle/>
                    <a:p>
                      <a:pPr marL="0" indent="0">
                        <a:buNone/>
                      </a:pPr>
                      <a:r>
                        <a:rPr lang="en-US" sz="1300" b="1" dirty="0">
                          <a:solidFill>
                            <a:srgbClr val="FFFFFF"/>
                          </a:solidFill>
                          <a:latin typeface="Verdana" pitchFamily="34" charset="0"/>
                          <a:ea typeface="Verdana" pitchFamily="34" charset="-122"/>
                          <a:cs typeface="Verdana" pitchFamily="34" charset="-120"/>
                        </a:rPr>
                        <a:t>Element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1300" b="1" dirty="0">
                          <a:solidFill>
                            <a:srgbClr val="FFFFFF"/>
                          </a:solidFill>
                          <a:latin typeface="Verdana" pitchFamily="34" charset="0"/>
                          <a:ea typeface="Verdana" pitchFamily="34" charset="-122"/>
                          <a:cs typeface="Verdana" pitchFamily="34" charset="-120"/>
                        </a:rPr>
                        <a:t>Size (Verdana)</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marL="0" indent="0">
                        <a:buNone/>
                      </a:pPr>
                      <a:r>
                        <a:rPr lang="en-US" sz="1300" b="1" dirty="0">
                          <a:solidFill>
                            <a:srgbClr val="FFFFFF"/>
                          </a:solidFill>
                          <a:latin typeface="Verdana" pitchFamily="34" charset="0"/>
                          <a:ea typeface="Verdana" pitchFamily="34" charset="-122"/>
                          <a:cs typeface="Verdana" pitchFamily="34" charset="-120"/>
                        </a:rPr>
                        <a:t>Rule</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Poster title</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30 pt bold, navy</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Title Case; may shrink to fit one or two lines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Presenting author / co-authors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14 pt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Underline the presenting author; no titles (Prof., Snr. Lec. etc.)</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Affiliations, email, Abstract ID</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11 pt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Superscript numbers for affiliations; * for corresponding author</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3"/>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Section headings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16 pt bold, white on navy</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Introduction, Research Objectives, Methodology, Results and Discussions, Conclusions, Acknowledgement, References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Body text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12 pt (minimum)</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Short sentences and bullets; justified paragraphs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5"/>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Captions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11 pt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Table 01: above tables; Figure 01: / Image 01: below figures and images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Table body</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10 pt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Adapt to the number of data points, never below 9 pt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0007"/>
                  </a:ext>
                </a:extLst>
              </a:tr>
              <a:tr h="438912">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Source / footnote, References</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9 pt</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latin typeface="Verdana" pitchFamily="34" charset="0"/>
                          <a:ea typeface="Verdana" pitchFamily="34" charset="-122"/>
                          <a:cs typeface="Verdana" pitchFamily="34" charset="-120"/>
                        </a:rPr>
                        <a:t>References numbered [1] in order of citation</a:t>
                      </a:r>
                      <a:endParaRPr lang="en-US" sz="1300" dirty="0">
                        <a:latin typeface="Verdana" charset="0"/>
                        <a:ea typeface="Verdana" charset="0"/>
                        <a:cs typeface="Verdana" charset="0"/>
                      </a:endParaRPr>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2"/>
          <p:cNvSpPr txBox="1"/>
          <p:nvPr/>
        </p:nvSpPr>
        <p:spPr>
          <a:xfrm>
            <a:off x="457200" y="5394960"/>
            <a:ext cx="11277295" cy="566928"/>
          </a:xfrm>
          <a:prstGeom prst="rect">
            <a:avLst/>
          </a:prstGeom>
          <a:noFill/>
          <a:ln/>
        </p:spPr>
        <p:txBody>
          <a:bodyPr wrap="square" rtlCol="0" anchor="ctr"/>
          <a:lstStyle/>
          <a:p>
            <a:pPr marL="0" indent="0" algn="ctr">
              <a:buNone/>
            </a:pPr>
            <a:r>
              <a:rPr lang="en-US" sz="1400" i="1" dirty="0">
                <a:solidFill>
                  <a:srgbClr val="C00000"/>
                </a:solidFill>
                <a:latin typeface="Verdana" pitchFamily="34" charset="0"/>
                <a:ea typeface="Verdana" pitchFamily="34" charset="-122"/>
                <a:cs typeface="Verdana" pitchFamily="34" charset="-120"/>
              </a:rPr>
              <a:t>Note: The layout is flexible. You may resize, move or rearrange the boxes and add more figures, tables or images (numbered Table 02, Figure 03, Image 02 …), as long as all section headings remain, text stays at or above these sizes, and the slide is not overcrowded.</a:t>
            </a:r>
            <a:endParaRPr lang="en-US" sz="1400" dirty="0"/>
          </a:p>
        </p:txBody>
      </p:sp>
      <p:sp>
        <p:nvSpPr>
          <p:cNvPr id="8" name="Text 3"/>
          <p:cNvSpPr txBox="1"/>
          <p:nvPr/>
        </p:nvSpPr>
        <p:spPr>
          <a:xfrm>
            <a:off x="457200" y="6035040"/>
            <a:ext cx="11277295" cy="566928"/>
          </a:xfrm>
          <a:prstGeom prst="rect">
            <a:avLst/>
          </a:prstGeom>
          <a:noFill/>
          <a:ln/>
        </p:spPr>
        <p:txBody>
          <a:bodyPr wrap="square" rtlCol="0" anchor="ctr"/>
          <a:lstStyle/>
          <a:p>
            <a:pPr marL="0" indent="0" algn="ctr">
              <a:buNone/>
            </a:pPr>
            <a:r>
              <a:rPr lang="en-US" sz="1400" i="1" dirty="0">
                <a:solidFill>
                  <a:srgbClr val="C00000"/>
                </a:solidFill>
                <a:latin typeface="Verdana" pitchFamily="34" charset="0"/>
                <a:ea typeface="Verdana" pitchFamily="34" charset="-122"/>
                <a:cs typeface="Verdana" pitchFamily="34" charset="-120"/>
              </a:rPr>
              <a:t>Note: These sizes keep every line readable when the slide is shown full screen. If content does not fit, cut words or shrink figures, not the text.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erdan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erdan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722</Words>
  <Application>Microsoft Office PowerPoint</Application>
  <PresentationFormat>Widescreen</PresentationFormat>
  <Paragraphs>82</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Verdana</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IRC 2026 Poster Slide</dc:title>
  <dc:subject>PptxGenJS Presentation</dc:subject>
  <dc:creator>PptxGenJS</dc:creator>
  <cp:lastModifiedBy>DELL</cp:lastModifiedBy>
  <cp:revision>2</cp:revision>
  <dcterms:created xsi:type="dcterms:W3CDTF">2026-10-20T07:51:38Z</dcterms:created>
  <dcterms:modified xsi:type="dcterms:W3CDTF">2026-10-20T07:53:31Z</dcterms:modified>
</cp:coreProperties>
</file>