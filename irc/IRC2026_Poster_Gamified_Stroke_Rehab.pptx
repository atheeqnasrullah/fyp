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SVM, 200 ms</c:v>
                </c:pt>
              </c:strCache>
            </c:strRef>
          </c:tx>
          <c:spPr>
            <a:solidFill>
              <a:srgbClr val="4472C4"/>
            </a:solidFill>
          </c:spPr>
          <c:cat>
            <c:strRef>
              <c:f>Sheet1!$A$2:$A$8</c:f>
              <c:strCache>
                <c:ptCount val="7"/>
                <c:pt idx="0">
                  <c:v>Rest</c:v>
                </c:pt>
                <c:pt idx="1">
                  <c:v>Open</c:v>
                </c:pt>
                <c:pt idx="2">
                  <c:v>Close</c:v>
                </c:pt>
                <c:pt idx="3">
                  <c:v>Left</c:v>
                </c:pt>
                <c:pt idx="4">
                  <c:v>Right</c:v>
                </c:pt>
                <c:pt idx="5">
                  <c:v>Up</c:v>
                </c:pt>
                <c:pt idx="6">
                  <c:v>Down</c:v>
                </c:pt>
              </c:strCache>
            </c:strRef>
          </c:cat>
          <c:val>
            <c:numRef>
              <c:f>Sheet1!$B$2:$B$8</c:f>
              <c:numCache>
                <c:formatCode>General</c:formatCode>
                <c:ptCount val="7"/>
                <c:pt idx="0">
                  <c:v>81</c:v>
                </c:pt>
                <c:pt idx="1">
                  <c:v>46</c:v>
                </c:pt>
                <c:pt idx="2">
                  <c:v>66</c:v>
                </c:pt>
                <c:pt idx="3">
                  <c:v>23</c:v>
                </c:pt>
                <c:pt idx="4">
                  <c:v>9</c:v>
                </c:pt>
                <c:pt idx="5">
                  <c:v>19</c:v>
                </c:pt>
                <c:pt idx="6">
                  <c:v>11</c:v>
                </c:pt>
              </c:numCache>
            </c:numRef>
          </c:val>
        </c:ser>
        <c:ser>
          <c:idx val="1"/>
          <c:order val="1"/>
          <c:tx>
            <c:strRef>
              <c:f>Sheet1!$C$1</c:f>
              <c:strCache>
                <c:ptCount val="1"/>
                <c:pt idx="0">
                  <c:v>MOMENT-1 + RF</c:v>
                </c:pt>
              </c:strCache>
            </c:strRef>
          </c:tx>
          <c:spPr>
            <a:solidFill>
              <a:srgbClr val="1F3864"/>
            </a:solidFill>
          </c:spPr>
          <c:cat>
            <c:strRef>
              <c:f>Sheet1!$A$2:$A$8</c:f>
              <c:strCache>
                <c:ptCount val="7"/>
                <c:pt idx="0">
                  <c:v>Rest</c:v>
                </c:pt>
                <c:pt idx="1">
                  <c:v>Open</c:v>
                </c:pt>
                <c:pt idx="2">
                  <c:v>Close</c:v>
                </c:pt>
                <c:pt idx="3">
                  <c:v>Left</c:v>
                </c:pt>
                <c:pt idx="4">
                  <c:v>Right</c:v>
                </c:pt>
                <c:pt idx="5">
                  <c:v>Up</c:v>
                </c:pt>
                <c:pt idx="6">
                  <c:v>Down</c:v>
                </c:pt>
              </c:strCache>
            </c:strRef>
          </c:cat>
          <c:val>
            <c:numRef>
              <c:f>Sheet1!$C$2:$C$8</c:f>
              <c:numCache>
                <c:formatCode>General</c:formatCode>
                <c:ptCount val="7"/>
                <c:pt idx="0">
                  <c:v>78</c:v>
                </c:pt>
                <c:pt idx="1">
                  <c:v>74</c:v>
                </c:pt>
                <c:pt idx="2">
                  <c:v>75</c:v>
                </c:pt>
                <c:pt idx="3">
                  <c:v>40</c:v>
                </c:pt>
                <c:pt idx="4">
                  <c:v>31</c:v>
                </c:pt>
                <c:pt idx="5">
                  <c:v>9</c:v>
                </c:pt>
                <c:pt idx="6">
                  <c:v>27</c:v>
                </c:pt>
              </c:numCache>
            </c:numRef>
          </c:val>
        </c:ser>
        <c:gapWidth val="60"/>
        <c:overlap val="-10"/>
        <c:axId val="-2068027336"/>
        <c:axId val="-2113994440"/>
      </c:barChart>
      <c:catAx>
        <c:axId val="-2068027336"/>
        <c:scaling>
          <c:orientation val="minMax"/>
        </c:scaling>
        <c:delete val="0"/>
        <c:axPos val="b"/>
        <c:majorTickMark val="out"/>
        <c:minorTickMark val="none"/>
        <c:tickLblPos val="nextTo"/>
        <c:spPr>
          <a:ln>
            <a:solidFill>
              <a:srgbClr val="7F7F7F"/>
            </a:solidFill>
          </a:ln>
        </c:spPr>
        <c:txPr>
          <a:bodyPr/>
          <a:lstStyle/>
          <a:p>
            <a:pPr>
              <a:defRPr sz="900"/>
            </a:pPr>
          </a:p>
        </c:txPr>
        <c:crossAx val="-2113994440"/>
        <c:crosses val="autoZero"/>
        <c:auto val="1"/>
        <c:lblAlgn val="ctr"/>
        <c:lblOffset val="100"/>
        <c:noMultiLvlLbl val="0"/>
      </c:catAx>
      <c:valAx>
        <c:axId val="-2113994440"/>
        <c:scaling>
          <c:max val="100.0"/>
          <c:min val="0.0"/>
        </c:scaling>
        <c:delete val="0"/>
        <c:axPos val="l"/>
        <c:majorGridlines>
          <c:spPr>
            <a:ln>
              <a:solidFill>
                <a:srgbClr val="D9D9D9"/>
              </a:solidFill>
            </a:ln>
          </c:spPr>
        </c:majorGridlines>
        <c:title>
          <c:tx>
            <c:rich>
              <a:bodyPr/>
              <a:lstStyle/>
              <a:p>
                <a:r>
                  <a:rPr sz="900" b="0"/>
                  <a:t>Recall (%)</a:t>
                </a:r>
              </a:p>
            </c:rich>
          </c:tx>
          <c:layout/>
          <c:overlay val="0"/>
        </c:title>
        <c:majorTickMark val="out"/>
        <c:minorTickMark val="none"/>
        <c:tickLblPos val="nextTo"/>
        <c:spPr>
          <a:ln>
            <a:noFill/>
          </a:ln>
        </c:spPr>
        <c:txPr>
          <a:bodyPr/>
          <a:lstStyle/>
          <a:p>
            <a:pPr>
              <a:defRPr sz="900"/>
            </a:pPr>
          </a:p>
        </c:txPr>
        <c:crossAx val="-2068027336"/>
        <c:crosses val="autoZero"/>
        <c:majorUnit val="25.0"/>
      </c:valAx>
    </c:plotArea>
    <c:legend>
      <c:legendPos val="t"/>
      <c:overlay val="0"/>
      <c:txPr>
        <a:bodyPr/>
        <a:lstStyle/>
        <a:p>
          <a:pPr>
            <a:defRPr sz="900"/>
          </a:pPr>
        </a:p>
      </c:txPr>
    </c:legend>
    <c:dispBlanksAs val="gap"/>
  </c:chart>
  <c:txPr>
    <a:bodyPr/>
    <a:lstStyle/>
    <a:p>
      <a:pPr>
        <a:defRPr sz="900">
          <a:latin typeface="Verdana"/>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3194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On-screen poster (16:9, 13.33 x 7.5 in). Verdana throughout. Title 30 pt bold (may shrink to fit); presenting author 14 pt underlined; affiliations 11 pt; section headings 16 pt bold; body 12 pt; captions 11 pt (Table 01: / Figure 01: / Image 01:); table body 10 pt; sources and references 9 pt. Do not go below these sizes - cut words instead. The layout is flexible: boxes may be resized, moved or rearranged and extra figures, tables or images added (Table 02, Figure 03, Image 02...), as long as all section headings remain and the minimum sizes are kept.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RC logo" descr="/home/claude/w2/unp/ppt/media/image2.png"/>
          <p:cNvPicPr>
            <a:picLocks noChangeAspect="1"/>
          </p:cNvPicPr>
          <p:nvPr/>
        </p:nvPicPr>
        <p:blipFill>
          <a:blip r:embed="rId3"/>
          <a:stretch>
            <a:fillRect/>
          </a:stretch>
        </p:blipFill>
        <p:spPr>
          <a:xfrm>
            <a:off x="137160" y="0"/>
            <a:ext cx="1371600" cy="685800"/>
          </a:xfrm>
          <a:prstGeom prst="rect">
            <a:avLst/>
          </a:prstGeom>
        </p:spPr>
      </p:pic>
      <p:pic>
        <p:nvPicPr>
          <p:cNvPr id="3" name="SLTC logo" descr="/home/claude/w2/unp/ppt/media/image1.jpeg"/>
          <p:cNvPicPr>
            <a:picLocks noChangeAspect="1"/>
          </p:cNvPicPr>
          <p:nvPr/>
        </p:nvPicPr>
        <p:blipFill>
          <a:blip r:embed="rId4"/>
          <a:stretch>
            <a:fillRect/>
          </a:stretch>
        </p:blipFill>
        <p:spPr>
          <a:xfrm>
            <a:off x="9951415" y="73152"/>
            <a:ext cx="2011680" cy="633823"/>
          </a:xfrm>
          <a:prstGeom prst="rect">
            <a:avLst/>
          </a:prstGeom>
        </p:spPr>
      </p:pic>
      <p:sp>
        <p:nvSpPr>
          <p:cNvPr id="4" name="Text 0"/>
          <p:cNvSpPr txBox="1"/>
          <p:nvPr/>
        </p:nvSpPr>
        <p:spPr>
          <a:xfrm>
            <a:off x="3657600" y="137160"/>
            <a:ext cx="4876495" cy="365760"/>
          </a:xfrm>
          <a:prstGeom prst="rect">
            <a:avLst/>
          </a:prstGeom>
          <a:noFill/>
          <a:ln/>
        </p:spPr>
        <p:txBody>
          <a:bodyPr wrap="square" rtlCol="0" anchor="ctr"/>
          <a:lstStyle/>
          <a:p>
            <a:pPr marL="0" indent="0" algn="ctr">
              <a:buNone/>
            </a:pPr>
            <a:r>
              <a:rPr lang="en-US" sz="1100" b="1" dirty="0">
                <a:solidFill>
                  <a:srgbClr val="1F3864"/>
                </a:solidFill>
                <a:latin typeface="Verdana" pitchFamily="34" charset="0"/>
                <a:ea typeface="Verdana" pitchFamily="34" charset="-122"/>
                <a:cs typeface="Verdana" pitchFamily="34" charset="-120"/>
              </a:rPr>
              <a:t>&lt;IRC-2026_Abstract ID&gt;</a:t>
            </a:r>
            <a:endParaRPr lang="en-US" sz="1100" dirty="0"/>
          </a:p>
        </p:txBody>
      </p:sp>
      <p:sp>
        <p:nvSpPr>
          <p:cNvPr id="5" name="Title band"/>
          <p:cNvSpPr/>
          <p:nvPr/>
        </p:nvSpPr>
        <p:spPr>
          <a:xfrm>
            <a:off x="0" y="713232"/>
            <a:ext cx="12191695" cy="786384"/>
          </a:xfrm>
          <a:prstGeom prst="rect">
            <a:avLst/>
          </a:prstGeom>
          <a:solidFill>
            <a:srgbClr val="D0CECE"/>
          </a:solidFill>
          <a:ln/>
        </p:spPr>
      </p:sp>
      <p:sp>
        <p:nvSpPr>
          <p:cNvPr id="6" name="Poster title"/>
          <p:cNvSpPr txBox="1"/>
          <p:nvPr/>
        </p:nvSpPr>
        <p:spPr>
          <a:xfrm>
            <a:off x="274320" y="731520"/>
            <a:ext cx="11643055" cy="749808"/>
          </a:xfrm>
          <a:prstGeom prst="rect">
            <a:avLst/>
          </a:prstGeom>
          <a:noFill/>
          <a:ln/>
        </p:spPr>
        <p:txBody>
          <a:bodyPr wrap="square" lIns="0" tIns="0" rIns="0" bIns="0" rtlCol="0" anchor="ctr">
            <a:normAutofit/>
          </a:bodyPr>
          <a:lstStyle/>
          <a:p>
            <a:pPr marL="0" indent="0" algn="ctr">
              <a:buNone/>
            </a:pPr>
            <a:r>
              <a:rPr lang="en-US" sz="2200" dirty="0" b="1">
                <a:solidFill>
                  <a:srgbClr val="1F3864"/>
                </a:solidFill>
                <a:latin typeface="Verdana" pitchFamily="34" charset="0"/>
                <a:ea typeface="Verdana" pitchFamily="34" charset="-122"/>
                <a:cs typeface="Verdana" pitchFamily="34" charset="-120"/>
              </a:rPr>
              <a:t>A Gamified Upper Limb Stroke Rehabilitation System with Remote Monitoring and Communication Features</a:t>
            </a:r>
            <a:endParaRPr lang="en-US" sz="3000" dirty="0"/>
          </a:p>
        </p:txBody>
      </p:sp>
      <p:sp>
        <p:nvSpPr>
          <p:cNvPr id="7" name="Authors"/>
          <p:cNvSpPr txBox="1"/>
          <p:nvPr/>
        </p:nvSpPr>
        <p:spPr>
          <a:xfrm>
            <a:off x="274320" y="1536192"/>
            <a:ext cx="11643055" cy="438912"/>
          </a:xfrm>
          <a:prstGeom prst="rect">
            <a:avLst/>
          </a:prstGeom>
          <a:noFill/>
          <a:ln/>
        </p:spPr>
        <p:txBody>
          <a:bodyPr wrap="square" lIns="0" tIns="0" rIns="0" bIns="0" rtlCol="0" anchor="t"/>
          <a:lstStyle/>
          <a:p>
            <a:pPr marL="0" indent="0" algn="ctr">
              <a:buNone/>
            </a:pPr>
            <a:r>
              <a:rPr lang="en-US" sz="1400" dirty="0" b="1" u="sng">
                <a:solidFill>
                  <a:srgbClr val="000000"/>
                </a:solidFill>
                <a:latin typeface="Verdana" pitchFamily="34" charset="0"/>
                <a:ea typeface="Verdana" pitchFamily="34" charset="-122"/>
                <a:cs typeface="Verdana" pitchFamily="34" charset="-120"/>
              </a:rPr>
              <a:t>A.F.M. Imzan</a:t>
            </a:r>
            <a:r>
              <a:rPr lang="en-US" sz="1400" dirty="0" b="1" baseline="30000">
                <a:solidFill>
                  <a:srgbClr val="000000"/>
                </a:solidFill>
                <a:latin typeface="Verdana" pitchFamily="34" charset="0"/>
                <a:ea typeface="Verdana" pitchFamily="34" charset="-122"/>
                <a:cs typeface="Verdana" pitchFamily="34" charset="-120"/>
              </a:rPr>
              <a:t>1*</a:t>
            </a:r>
            <a:r>
              <a:rPr lang="en-US" sz="1400" dirty="0">
                <a:solidFill>
                  <a:srgbClr val="000000"/>
                </a:solidFill>
                <a:latin typeface="Verdana" pitchFamily="34" charset="0"/>
                <a:ea typeface="Verdana" pitchFamily="34" charset="-122"/>
                <a:cs typeface="Verdana" pitchFamily="34" charset="-120"/>
              </a:rPr>
              <a:t>, M.N.M. Atheeq</a:t>
            </a:r>
            <a:r>
              <a:rPr lang="en-US" sz="1400" dirty="0" baseline="30000">
                <a:solidFill>
                  <a:srgbClr val="000000"/>
                </a:solidFill>
                <a:latin typeface="Verdana" pitchFamily="34" charset="0"/>
                <a:ea typeface="Verdana" pitchFamily="34" charset="-122"/>
                <a:cs typeface="Verdana" pitchFamily="34" charset="-120"/>
              </a:rPr>
              <a:t>1</a:t>
            </a:r>
            <a:r>
              <a:rPr lang="en-US" sz="1400" dirty="0">
                <a:solidFill>
                  <a:srgbClr val="000000"/>
                </a:solidFill>
                <a:latin typeface="Verdana" pitchFamily="34" charset="0"/>
                <a:ea typeface="Verdana" pitchFamily="34" charset="-122"/>
                <a:cs typeface="Verdana" pitchFamily="34" charset="-120"/>
              </a:rPr>
              <a:t>, Dulashi Karunakalage</a:t>
            </a:r>
            <a:r>
              <a:rPr lang="en-US" sz="1400" dirty="0" baseline="30000">
                <a:solidFill>
                  <a:srgbClr val="000000"/>
                </a:solidFill>
                <a:latin typeface="Verdana" pitchFamily="34" charset="0"/>
                <a:ea typeface="Verdana" pitchFamily="34" charset="-122"/>
                <a:cs typeface="Verdana" pitchFamily="34" charset="-120"/>
              </a:rPr>
              <a:t>2</a:t>
            </a:r>
            <a:r>
              <a:rPr lang="en-US" sz="1400" dirty="0">
                <a:solidFill>
                  <a:srgbClr val="000000"/>
                </a:solidFill>
                <a:latin typeface="Verdana" pitchFamily="34" charset="0"/>
                <a:ea typeface="Verdana" pitchFamily="34" charset="-122"/>
                <a:cs typeface="Verdana" pitchFamily="34" charset="-120"/>
              </a:rPr>
              <a:t>, H M V M N Herath</a:t>
            </a:r>
            <a:r>
              <a:rPr lang="en-US" sz="1400" dirty="0" baseline="30000">
                <a:solidFill>
                  <a:srgbClr val="000000"/>
                </a:solidFill>
                <a:latin typeface="Verdana" pitchFamily="34" charset="0"/>
                <a:ea typeface="Verdana" pitchFamily="34" charset="-122"/>
                <a:cs typeface="Verdana" pitchFamily="34" charset="-120"/>
              </a:rPr>
              <a:t>1</a:t>
            </a:r>
            <a:endParaRPr lang="en-US" sz="1400" dirty="0"/>
          </a:p>
          <a:p>
            <a:pPr marL="0" indent="0" algn="ctr">
              <a:buNone/>
            </a:pPr>
            <a:r>
              <a:rPr lang="en-US" sz="1100" dirty="0" baseline="30000">
                <a:solidFill>
                  <a:srgbClr val="000000"/>
                </a:solidFill>
                <a:latin typeface="Verdana" pitchFamily="34" charset="0"/>
                <a:ea typeface="Verdana" pitchFamily="34" charset="-122"/>
                <a:cs typeface="Verdana" pitchFamily="34" charset="-120"/>
              </a:rPr>
              <a:t>1</a:t>
            </a:r>
            <a:r>
              <a:rPr lang="en-US" sz="1100" dirty="0">
                <a:solidFill>
                  <a:srgbClr val="000000"/>
                </a:solidFill>
                <a:latin typeface="Verdana" pitchFamily="34" charset="0"/>
                <a:ea typeface="Verdana" pitchFamily="34" charset="-122"/>
                <a:cs typeface="Verdana" pitchFamily="34" charset="-120"/>
              </a:rPr>
              <a:t xml:space="preserve">Dept. of Electronics &amp; Telecommunication, SLTC, Padukka, Sri Lanka   </a:t>
            </a:r>
            <a:r>
              <a:rPr lang="en-US" sz="1100" dirty="0" baseline="30000">
                <a:solidFill>
                  <a:srgbClr val="000000"/>
                </a:solidFill>
                <a:latin typeface="Verdana" pitchFamily="34" charset="0"/>
                <a:ea typeface="Verdana" pitchFamily="34" charset="-122"/>
                <a:cs typeface="Verdana" pitchFamily="34" charset="-120"/>
              </a:rPr>
              <a:t>2</a:t>
            </a:r>
            <a:r>
              <a:rPr lang="en-US" sz="1100" dirty="0">
                <a:solidFill>
                  <a:srgbClr val="000000"/>
                </a:solidFill>
                <a:latin typeface="Verdana" pitchFamily="34" charset="0"/>
                <a:ea typeface="Verdana" pitchFamily="34" charset="-122"/>
                <a:cs typeface="Verdana" pitchFamily="34" charset="-120"/>
              </a:rPr>
              <a:t xml:space="preserve">Dept. of Electrical Engineering, SLTC, Padukka, Sri Lanka   </a:t>
            </a:r>
            <a:r>
              <a:rPr lang="en-US" sz="1100" dirty="0" i="1">
                <a:solidFill>
                  <a:srgbClr val="000000"/>
                </a:solidFill>
                <a:latin typeface="Verdana" pitchFamily="34" charset="0"/>
                <a:ea typeface="Verdana" pitchFamily="34" charset="-122"/>
                <a:cs typeface="Verdana" pitchFamily="34" charset="-120"/>
              </a:rPr>
              <a:t>*22ug2-0072@sltc.ac.lk</a:t>
            </a:r>
            <a:endParaRPr lang="en-US" sz="1400" dirty="0"/>
          </a:p>
        </p:txBody>
      </p:sp>
      <p:sp>
        <p:nvSpPr>
          <p:cNvPr id="8" name="Heading Introduction"/>
          <p:cNvSpPr txBox="1"/>
          <p:nvPr/>
        </p:nvSpPr>
        <p:spPr>
          <a:xfrm>
            <a:off x="274320" y="2029968"/>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Introduction</a:t>
            </a:r>
            <a:endParaRPr lang="en-US" sz="1600" dirty="0"/>
          </a:p>
        </p:txBody>
      </p:sp>
      <p:sp>
        <p:nvSpPr>
          <p:cNvPr id="9" name="Text 5"/>
          <p:cNvSpPr txBox="1"/>
          <p:nvPr/>
        </p:nvSpPr>
        <p:spPr>
          <a:xfrm>
            <a:off x="274320" y="2350008"/>
            <a:ext cx="3730752" cy="1417320"/>
          </a:xfrm>
          <a:prstGeom prst="rect">
            <a:avLst/>
          </a:prstGeom>
          <a:noFill/>
          <a:ln/>
        </p:spPr>
        <p:txBody>
          <a:bodyPr wrap="square" lIns="25400" tIns="25400" rIns="25400" bIns="25400" rtlCol="0" anchor="t"/>
          <a:lstStyle/>
          <a:p>
            <a:pPr marL="0" indent="0" algn="just">
              <a:spcAft>
                <a:spcPts val="300"/>
              </a:spcAft>
              <a:buNone/>
            </a:pPr>
            <a:r>
              <a:rPr lang="en-US" sz="1200" dirty="0">
                <a:solidFill>
                  <a:srgbClr val="000000"/>
                </a:solidFill>
                <a:latin typeface="Verdana" pitchFamily="34" charset="0"/>
                <a:ea typeface="Verdana" pitchFamily="34" charset="-122"/>
                <a:cs typeface="Verdana" pitchFamily="34" charset="-120"/>
              </a:rPr>
              <a:t>Most stroke survivors keep lasting arm and hand impairment [1]. Repeated practice is needed, but patients lose interest and lack therapists [2].</a:t>
            </a:r>
            <a:endParaRPr lang="en-US" sz="1200" dirty="0"/>
          </a:p>
          <a:p>
            <a:pPr marL="177800" indent="-177800" algn="l">
              <a:spcAft>
                <a:spcPts val="300"/>
              </a:spcAft>
              <a:buSzPct val="100000"/>
              <a:buChar char="•"/>
            </a:pPr>
            <a:r>
              <a:rPr lang="en-US" sz="1200" dirty="0">
                <a:solidFill>
                  <a:srgbClr val="000000"/>
                </a:solidFill>
                <a:latin typeface="Verdana" pitchFamily="34" charset="0"/>
                <a:ea typeface="Verdana" pitchFamily="34" charset="-122"/>
                <a:cs typeface="Verdana" pitchFamily="34" charset="-120"/>
              </a:rPr>
              <a:t>Games make practice engaging [3]</a:t>
            </a:r>
            <a:endParaRPr lang="en-US" sz="1200" dirty="0"/>
          </a:p>
          <a:p>
            <a:pPr marL="177800" indent="-177800" algn="l">
              <a:spcAft>
                <a:spcPts val="300"/>
              </a:spcAft>
              <a:buSzPct val="100000"/>
              <a:buChar char="•"/>
            </a:pPr>
            <a:r>
              <a:rPr lang="en-US" sz="1200" dirty="0">
                <a:solidFill>
                  <a:srgbClr val="000000"/>
                </a:solidFill>
                <a:latin typeface="Verdana" pitchFamily="34" charset="0"/>
                <a:ea typeface="Verdana" pitchFamily="34" charset="-122"/>
                <a:cs typeface="Verdana" pitchFamily="34" charset="-120"/>
              </a:rPr>
              <a:t>Few systems also add EMG and remote therapist support</a:t>
            </a:r>
            <a:endParaRPr lang="en-US" sz="1200" dirty="0"/>
          </a:p>
        </p:txBody>
      </p:sp>
      <p:sp>
        <p:nvSpPr>
          <p:cNvPr id="10" name="Heading Research Objectives"/>
          <p:cNvSpPr txBox="1"/>
          <p:nvPr/>
        </p:nvSpPr>
        <p:spPr>
          <a:xfrm>
            <a:off x="274320" y="3840480"/>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Research Objectives</a:t>
            </a:r>
            <a:endParaRPr lang="en-US" sz="1600" dirty="0"/>
          </a:p>
        </p:txBody>
      </p:sp>
      <p:sp>
        <p:nvSpPr>
          <p:cNvPr id="11" name="Text 7"/>
          <p:cNvSpPr txBox="1"/>
          <p:nvPr/>
        </p:nvSpPr>
        <p:spPr>
          <a:xfrm>
            <a:off x="274320" y="4160520"/>
            <a:ext cx="3730752" cy="777240"/>
          </a:xfrm>
          <a:prstGeom prst="rect">
            <a:avLst/>
          </a:prstGeom>
          <a:noFill/>
          <a:ln/>
        </p:spPr>
        <p:txBody>
          <a:bodyPr wrap="square" lIns="25400" tIns="25400" rIns="25400" bIns="25400" rtlCol="0" anchor="t"/>
          <a:lstStyle/>
          <a:p>
            <a:pPr marL="228600" indent="-228600" algn="l">
              <a:spcAft>
                <a:spcPts val="300"/>
              </a:spcAft>
              <a:buSzPct val="100000"/>
              <a:buFont typeface="+mj-lt"/>
              <a:buAutoNum type="arabicPeriod"/>
            </a:pPr>
            <a:r>
              <a:rPr lang="en-US" sz="1200" dirty="0">
                <a:solidFill>
                  <a:srgbClr val="000000"/>
                </a:solidFill>
                <a:latin typeface="Verdana" pitchFamily="34" charset="0"/>
                <a:ea typeface="Verdana" pitchFamily="34" charset="-122"/>
                <a:cs typeface="Verdana" pitchFamily="34" charset="-120"/>
              </a:rPr>
              <a:t>To sense forearm EMG and hand motion</a:t>
            </a:r>
            <a:endParaRPr lang="en-US" sz="1200" dirty="0"/>
          </a:p>
          <a:p>
            <a:pPr marL="228600" indent="-228600" algn="l">
              <a:spcAft>
                <a:spcPts val="300"/>
              </a:spcAft>
              <a:buSzPct val="100000"/>
              <a:buFont typeface="+mj-lt"/>
              <a:buAutoNum type="arabicPeriod"/>
            </a:pPr>
            <a:r>
              <a:rPr lang="en-US" sz="1200" dirty="0">
                <a:solidFill>
                  <a:srgbClr val="000000"/>
                </a:solidFill>
                <a:latin typeface="Verdana" pitchFamily="34" charset="0"/>
                <a:ea typeface="Verdana" pitchFamily="34" charset="-122"/>
                <a:cs typeface="Verdana" pitchFamily="34" charset="-120"/>
              </a:rPr>
              <a:t>To recognize 7 hand/wrist movements</a:t>
            </a:r>
            <a:endParaRPr lang="en-US" sz="1200" dirty="0"/>
          </a:p>
          <a:p>
            <a:pPr marL="228600" indent="-228600" algn="l">
              <a:spcAft>
                <a:spcPts val="300"/>
              </a:spcAft>
              <a:buSzPct val="100000"/>
              <a:buFont typeface="+mj-lt"/>
              <a:buAutoNum type="arabicPeriod"/>
            </a:pPr>
            <a:r>
              <a:rPr lang="en-US" sz="1200" dirty="0">
                <a:solidFill>
                  <a:srgbClr val="000000"/>
                </a:solidFill>
                <a:latin typeface="Verdana" pitchFamily="34" charset="0"/>
                <a:ea typeface="Verdana" pitchFamily="34" charset="-122"/>
                <a:cs typeface="Verdana" pitchFamily="34" charset="-120"/>
              </a:rPr>
              <a:t>To build games and a therapist web app</a:t>
            </a:r>
            <a:endParaRPr lang="en-US" sz="1200" dirty="0"/>
          </a:p>
        </p:txBody>
      </p:sp>
      <p:sp>
        <p:nvSpPr>
          <p:cNvPr id="12" name="Heading Methodology"/>
          <p:cNvSpPr txBox="1"/>
          <p:nvPr/>
        </p:nvSpPr>
        <p:spPr>
          <a:xfrm>
            <a:off x="274320" y="5029200"/>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Methodology</a:t>
            </a:r>
            <a:endParaRPr lang="en-US" sz="1600" dirty="0"/>
          </a:p>
        </p:txBody>
      </p:sp>
      <p:sp>
        <p:nvSpPr>
          <p:cNvPr id="13" name="Text 9"/>
          <p:cNvSpPr txBox="1"/>
          <p:nvPr/>
        </p:nvSpPr>
        <p:spPr>
          <a:xfrm>
            <a:off x="274320" y="5349240"/>
            <a:ext cx="3730752" cy="1417320"/>
          </a:xfrm>
          <a:prstGeom prst="rect">
            <a:avLst/>
          </a:prstGeom>
          <a:noFill/>
          <a:ln/>
        </p:spPr>
        <p:txBody>
          <a:bodyPr wrap="square" lIns="25400" tIns="25400" rIns="25400" bIns="25400" rtlCol="0" anchor="t"/>
          <a:lstStyle/>
          <a:p>
            <a:pPr marL="0" indent="0" algn="just">
              <a:spcAft>
                <a:spcPts val="300"/>
              </a:spcAft>
              <a:buNone/>
            </a:pPr>
            <a:r>
              <a:rPr lang="en-US" sz="1200" dirty="0">
                <a:solidFill>
                  <a:srgbClr val="000000"/>
                </a:solidFill>
                <a:latin typeface="Verdana" pitchFamily="34" charset="0"/>
                <a:ea typeface="Verdana" pitchFamily="34" charset="-122"/>
                <a:cs typeface="Verdana" pitchFamily="34" charset="-120"/>
              </a:rPr>
              <a:t>An ESP32 samples an MD0437 forearm EMG envelope at 1 kHz; MediaPipe [4] maps webcam hand landmarks to 7 movements. Every 50 ms, fusion attaches 8 EMG features to each camera command (Figure 01). Classifiers and MOMENT-1 [5] were compared offline on 9 healthy volunteers.</a:t>
            </a:r>
            <a:endParaRPr lang="en-US" sz="1200" dirty="0"/>
          </a:p>
        </p:txBody>
      </p:sp>
      <p:sp>
        <p:nvSpPr>
          <p:cNvPr id="16" name="Text 12"/>
          <p:cNvSpPr txBox="1"/>
          <p:nvPr/>
        </p:nvSpPr>
        <p:spPr>
          <a:xfrm>
            <a:off x="4233672" y="3493008"/>
            <a:ext cx="3730752" cy="201168"/>
          </a:xfrm>
          <a:prstGeom prst="rect">
            <a:avLst/>
          </a:prstGeom>
          <a:noFill/>
          <a:ln/>
        </p:spPr>
        <p:txBody>
          <a:bodyPr wrap="square" lIns="0" tIns="0" rIns="0" bIns="0" rtlCol="0" anchor="t"/>
          <a:lstStyle/>
          <a:p>
            <a:pPr marL="0" indent="0" algn="ctr">
              <a:buNone/>
            </a:pPr>
            <a:r>
              <a:rPr lang="en-US" sz="1100" dirty="0" b="1">
                <a:solidFill>
                  <a:srgbClr val="000000"/>
                </a:solidFill>
                <a:latin typeface="Verdana" pitchFamily="34" charset="0"/>
                <a:ea typeface="Verdana" pitchFamily="34" charset="-122"/>
                <a:cs typeface="Verdana" pitchFamily="34" charset="-120"/>
              </a:rPr>
              <a:t xml:space="preserve">Figure 01: </a:t>
            </a:r>
            <a:r>
              <a:rPr lang="en-US" sz="1100" dirty="0">
                <a:solidFill>
                  <a:srgbClr val="000000"/>
                </a:solidFill>
                <a:latin typeface="Verdana" pitchFamily="34" charset="0"/>
                <a:ea typeface="Verdana" pitchFamily="34" charset="-122"/>
                <a:cs typeface="Verdana" pitchFamily="34" charset="-120"/>
              </a:rPr>
              <a:t>System architecture</a:t>
            </a:r>
            <a:endParaRPr lang="en-US" sz="1100" dirty="0"/>
          </a:p>
        </p:txBody>
      </p:sp>
      <p:sp>
        <p:nvSpPr>
          <p:cNvPr id="18" name="Heading Results and Discussions"/>
          <p:cNvSpPr txBox="1"/>
          <p:nvPr/>
        </p:nvSpPr>
        <p:spPr>
          <a:xfrm>
            <a:off x="4233672" y="3749039"/>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Results and Discussions</a:t>
            </a:r>
            <a:endParaRPr lang="en-US" sz="1600" dirty="0"/>
          </a:p>
        </p:txBody>
      </p:sp>
      <p:sp>
        <p:nvSpPr>
          <p:cNvPr id="19" name="Text 15"/>
          <p:cNvSpPr txBox="1"/>
          <p:nvPr/>
        </p:nvSpPr>
        <p:spPr>
          <a:xfrm>
            <a:off x="4233672" y="4069080"/>
            <a:ext cx="3730752" cy="566928"/>
          </a:xfrm>
          <a:prstGeom prst="rect">
            <a:avLst/>
          </a:prstGeom>
          <a:noFill/>
          <a:ln/>
        </p:spPr>
        <p:txBody>
          <a:bodyPr wrap="square" lIns="25400" tIns="25400" rIns="25400" bIns="25400" rtlCol="0" anchor="t"/>
          <a:lstStyle/>
          <a:p>
            <a:pPr marL="0" indent="0" algn="just">
              <a:spcAft>
                <a:spcPts val="300"/>
              </a:spcAft>
              <a:buNone/>
            </a:pPr>
            <a:r>
              <a:rPr lang="en-US" sz="1200" dirty="0">
                <a:solidFill>
                  <a:srgbClr val="000000"/>
                </a:solidFill>
                <a:latin typeface="Verdana" pitchFamily="34" charset="0"/>
                <a:ea typeface="Verdana" pitchFamily="34" charset="-122"/>
                <a:cs typeface="Verdana" pitchFamily="34" charset="-120"/>
              </a:rPr>
              <a:t>Frozen MOMENT-1 features with a random forest were best: 48.1% LOSO accuracy (chance 14.3%).</a:t>
            </a:r>
            <a:endParaRPr lang="en-US" sz="1200" dirty="0"/>
          </a:p>
        </p:txBody>
      </p:sp>
      <p:sp>
        <p:nvSpPr>
          <p:cNvPr id="20" name="Text 16"/>
          <p:cNvSpPr txBox="1"/>
          <p:nvPr/>
        </p:nvSpPr>
        <p:spPr>
          <a:xfrm>
            <a:off x="4233672" y="4663440"/>
            <a:ext cx="3730752" cy="201168"/>
          </a:xfrm>
          <a:prstGeom prst="rect">
            <a:avLst/>
          </a:prstGeom>
          <a:noFill/>
          <a:ln/>
        </p:spPr>
        <p:txBody>
          <a:bodyPr wrap="square" lIns="0" tIns="0" rIns="0" bIns="0" rtlCol="0" anchor="t"/>
          <a:lstStyle/>
          <a:p>
            <a:pPr marL="0" indent="0" algn="ctr">
              <a:buNone/>
            </a:pPr>
            <a:r>
              <a:rPr lang="en-US" sz="1100" dirty="0" b="1">
                <a:solidFill>
                  <a:srgbClr val="000000"/>
                </a:solidFill>
                <a:latin typeface="Verdana" pitchFamily="34" charset="0"/>
                <a:ea typeface="Verdana" pitchFamily="34" charset="-122"/>
                <a:cs typeface="Verdana" pitchFamily="34" charset="-120"/>
              </a:rPr>
              <a:t xml:space="preserve">Table 01: </a:t>
            </a:r>
            <a:r>
              <a:rPr lang="en-US" sz="1100" dirty="0">
                <a:solidFill>
                  <a:srgbClr val="000000"/>
                </a:solidFill>
                <a:latin typeface="Verdana" pitchFamily="34" charset="0"/>
                <a:ea typeface="Verdana" pitchFamily="34" charset="-122"/>
                <a:cs typeface="Verdana" pitchFamily="34" charset="-120"/>
              </a:rPr>
              <a:t>Seven-movement accuracy</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370832" y="4882896"/>
          <a:ext cx="3456432" cy="960120"/>
        </p:xfrm>
        <a:graphic>
          <a:graphicData uri="http://schemas.openxmlformats.org/drawingml/2006/table">
            <a:tbl>
              <a:tblPr/>
              <a:tblGrid>
                <a:gridCol w="1865376">
                  <a:extLst>
                    <a:ext uri="{9D8B030D-6E8A-4147-A177-3AD203B41FA5}">
                      <a16:colId xmlns:a16="http://schemas.microsoft.com/office/drawing/2014/main" val="20000"/>
                    </a:ext>
                  </a:extLst>
                </a:gridCol>
                <a:gridCol w="795528">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tblGrid>
              <a:tr h="192024">
                <a:tc>
                  <a:txBody>
                    <a:bodyPr/>
                    <a:lstStyle/>
                    <a:p>
                      <a:pPr marL="0" indent="0" algn="ctr">
                        <a:buNone/>
                      </a:pPr>
                      <a:r>
                        <a:rPr lang="en-US" sz="1000" b="1" dirty="0">
                          <a:solidFill>
                            <a:srgbClr val="FFFFFF"/>
                          </a:solidFill>
                          <a:latin typeface="Verdana" pitchFamily="34" charset="0"/>
                          <a:ea typeface="Verdana" pitchFamily="34" charset="-122"/>
                          <a:cs typeface="Verdana" pitchFamily="34" charset="-120"/>
                        </a:rPr>
                        <a:t>Method</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ctr">
                        <a:buNone/>
                      </a:pPr>
                      <a:r>
                        <a:rPr lang="en-US" sz="1000" b="1" dirty="0">
                          <a:solidFill>
                            <a:srgbClr val="FFFFFF"/>
                          </a:solidFill>
                          <a:latin typeface="Verdana" pitchFamily="34" charset="0"/>
                          <a:ea typeface="Verdana" pitchFamily="34" charset="-122"/>
                          <a:cs typeface="Verdana" pitchFamily="34" charset="-120"/>
                        </a:rPr>
                        <a:t>LOSO</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ctr">
                        <a:buNone/>
                      </a:pPr>
                      <a:r>
                        <a:rPr lang="en-US" sz="1000" b="1" dirty="0">
                          <a:solidFill>
                            <a:srgbClr val="FFFFFF"/>
                          </a:solidFill>
                          <a:latin typeface="Verdana" pitchFamily="34" charset="0"/>
                          <a:ea typeface="Verdana" pitchFamily="34" charset="-122"/>
                          <a:cs typeface="Verdana" pitchFamily="34" charset="-120"/>
                        </a:rPr>
                        <a:t>Holdout</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192024">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SVM, 200 ms</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37.2%</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40.5%</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192024">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SVM, 5.12 s</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47.3%</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50.2%</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92024">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MOMENT-1 LoRA</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43.2%</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45.5%</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192024">
                <a:tc>
                  <a:txBody>
                    <a:bodyPr/>
                    <a:lstStyle/>
                    <a:p>
                      <a:pPr marL="0" indent="0" algn="ctr">
                        <a:buNone/>
                      </a:pPr>
                      <a:r>
                        <a:rPr lang="en-US" sz="1000" dirty="0" b="1">
                          <a:solidFill>
                            <a:srgbClr val="000000"/>
                          </a:solidFill>
                          <a:latin typeface="Verdana" pitchFamily="34" charset="0"/>
                          <a:ea typeface="Verdana" pitchFamily="34" charset="-122"/>
                          <a:cs typeface="Verdana" pitchFamily="34" charset="-120"/>
                        </a:rPr>
                        <a:t>Frozen MOMENT-1 + RF</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ctr">
                        <a:buNone/>
                      </a:pPr>
                      <a:r>
                        <a:rPr lang="en-US" sz="1000" dirty="0" b="1">
                          <a:solidFill>
                            <a:srgbClr val="000000"/>
                          </a:solidFill>
                          <a:latin typeface="Verdana" pitchFamily="34" charset="0"/>
                          <a:ea typeface="Verdana" pitchFamily="34" charset="-122"/>
                          <a:cs typeface="Verdana" pitchFamily="34" charset="-120"/>
                        </a:rPr>
                        <a:t>48.1%</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ctr">
                        <a:buNone/>
                      </a:pPr>
                      <a:r>
                        <a:rPr lang="en-US" sz="1000" dirty="0" b="1">
                          <a:solidFill>
                            <a:srgbClr val="000000"/>
                          </a:solidFill>
                          <a:latin typeface="Verdana" pitchFamily="34" charset="0"/>
                          <a:ea typeface="Verdana" pitchFamily="34" charset="-122"/>
                          <a:cs typeface="Verdana" pitchFamily="34" charset="-120"/>
                        </a:rPr>
                        <a:t>49.3%</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2"/>
                  </a:ext>
                </a:extLst>
              </a:tr>
            </a:tbl>
          </a:graphicData>
        </a:graphic>
      </p:graphicFrame>
      <p:sp>
        <p:nvSpPr>
          <p:cNvPr id="22" name="Text 17"/>
          <p:cNvSpPr txBox="1"/>
          <p:nvPr/>
        </p:nvSpPr>
        <p:spPr>
          <a:xfrm>
            <a:off x="4233672" y="5961888"/>
            <a:ext cx="3730752" cy="164592"/>
          </a:xfrm>
          <a:prstGeom prst="rect">
            <a:avLst/>
          </a:prstGeom>
          <a:noFill/>
          <a:ln/>
        </p:spPr>
        <p:txBody>
          <a:bodyPr wrap="square" lIns="0" tIns="0" rIns="0" bIns="0" rtlCol="0" anchor="t"/>
          <a:lstStyle/>
          <a:p>
            <a:pPr marL="0" indent="0" algn="ctr">
              <a:buNone/>
            </a:pPr>
            <a:r>
              <a:rPr lang="en-US" sz="900" dirty="0" i="1">
                <a:solidFill>
                  <a:srgbClr val="404040"/>
                </a:solidFill>
                <a:latin typeface="Verdana" pitchFamily="34" charset="0"/>
                <a:ea typeface="Verdana" pitchFamily="34" charset="-122"/>
                <a:cs typeface="Verdana" pitchFamily="34" charset="-120"/>
              </a:rPr>
              <a:t>Source: nine healthy volunteers; RF = random forest</a:t>
            </a:r>
            <a:endParaRPr lang="en-US" sz="900" dirty="0"/>
          </a:p>
        </p:txBody>
      </p:sp>
      <p:sp>
        <p:nvSpPr>
          <p:cNvPr id="23" name="Heading Acknowledgement"/>
          <p:cNvSpPr txBox="1"/>
          <p:nvPr/>
        </p:nvSpPr>
        <p:spPr>
          <a:xfrm>
            <a:off x="4233672" y="6199632"/>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Acknowledgement</a:t>
            </a:r>
            <a:endParaRPr lang="en-US" sz="1600" dirty="0"/>
          </a:p>
        </p:txBody>
      </p:sp>
      <p:sp>
        <p:nvSpPr>
          <p:cNvPr id="24" name="Text 19"/>
          <p:cNvSpPr txBox="1"/>
          <p:nvPr/>
        </p:nvSpPr>
        <p:spPr>
          <a:xfrm>
            <a:off x="4233672" y="6510528"/>
            <a:ext cx="3730752" cy="228600"/>
          </a:xfrm>
          <a:prstGeom prst="rect">
            <a:avLst/>
          </a:prstGeom>
          <a:noFill/>
          <a:ln/>
        </p:spPr>
        <p:txBody>
          <a:bodyPr wrap="square" lIns="25400" tIns="25400" rIns="25400" bIns="25400" rtlCol="0" anchor="t"/>
          <a:lstStyle/>
          <a:p>
            <a:pPr marL="0" indent="0" algn="just">
              <a:spcAft>
                <a:spcPts val="300"/>
              </a:spcAft>
              <a:buNone/>
            </a:pPr>
            <a:r>
              <a:rPr lang="en-US" sz="1200" dirty="0">
                <a:solidFill>
                  <a:srgbClr val="000000"/>
                </a:solidFill>
                <a:latin typeface="Verdana" pitchFamily="34" charset="0"/>
                <a:ea typeface="Verdana" pitchFamily="34" charset="-122"/>
                <a:cs typeface="Verdana" pitchFamily="34" charset="-120"/>
              </a:rPr>
              <a:t>We thank our EMG volunteers.</a:t>
            </a:r>
            <a:endParaRPr lang="en-US" sz="1200" dirty="0"/>
          </a:p>
        </p:txBody>
      </p:sp>
      <p:sp>
        <p:nvSpPr>
          <p:cNvPr id="26" name="Text 20"/>
          <p:cNvSpPr txBox="1"/>
          <p:nvPr/>
        </p:nvSpPr>
        <p:spPr>
          <a:xfrm>
            <a:off x="8193024" y="3255264"/>
            <a:ext cx="3730752" cy="201168"/>
          </a:xfrm>
          <a:prstGeom prst="rect">
            <a:avLst/>
          </a:prstGeom>
          <a:noFill/>
          <a:ln/>
        </p:spPr>
        <p:txBody>
          <a:bodyPr wrap="square" lIns="0" tIns="0" rIns="0" bIns="0" rtlCol="0" anchor="t"/>
          <a:lstStyle/>
          <a:p>
            <a:pPr marL="0" indent="0" algn="ctr">
              <a:buNone/>
            </a:pPr>
            <a:r>
              <a:rPr lang="en-US" sz="1100" dirty="0" b="1">
                <a:solidFill>
                  <a:srgbClr val="000000"/>
                </a:solidFill>
                <a:latin typeface="Verdana" pitchFamily="34" charset="0"/>
                <a:ea typeface="Verdana" pitchFamily="34" charset="-122"/>
                <a:cs typeface="Verdana" pitchFamily="34" charset="-120"/>
              </a:rPr>
              <a:t xml:space="preserve">Figure 02: </a:t>
            </a:r>
            <a:r>
              <a:rPr lang="en-US" sz="1100" dirty="0">
                <a:solidFill>
                  <a:srgbClr val="000000"/>
                </a:solidFill>
                <a:latin typeface="Verdana" pitchFamily="34" charset="0"/>
                <a:ea typeface="Verdana" pitchFamily="34" charset="-122"/>
                <a:cs typeface="Verdana" pitchFamily="34" charset="-120"/>
              </a:rPr>
              <a:t>LOSO recall per movement (S02–S09)</a:t>
            </a:r>
            <a:endParaRPr lang="en-US" sz="1100" dirty="0"/>
          </a:p>
        </p:txBody>
      </p:sp>
      <p:sp>
        <p:nvSpPr>
          <p:cNvPr id="28" name="Text 22"/>
          <p:cNvSpPr txBox="1"/>
          <p:nvPr/>
        </p:nvSpPr>
        <p:spPr>
          <a:xfrm>
            <a:off x="8193024" y="3511296"/>
            <a:ext cx="3730752" cy="411480"/>
          </a:xfrm>
          <a:prstGeom prst="rect">
            <a:avLst/>
          </a:prstGeom>
          <a:noFill/>
          <a:ln/>
        </p:spPr>
        <p:txBody>
          <a:bodyPr wrap="square" lIns="25400" tIns="25400" rIns="25400" bIns="25400" rtlCol="0" anchor="t"/>
          <a:lstStyle/>
          <a:p>
            <a:pPr marL="0" indent="0" algn="just">
              <a:spcAft>
                <a:spcPts val="300"/>
              </a:spcAft>
              <a:buNone/>
            </a:pPr>
            <a:r>
              <a:rPr lang="en-US" sz="1200" dirty="0">
                <a:solidFill>
                  <a:srgbClr val="000000"/>
                </a:solidFill>
                <a:latin typeface="Verdana" pitchFamily="34" charset="0"/>
                <a:ea typeface="Verdana" pitchFamily="34" charset="-122"/>
                <a:cs typeface="Verdana" pitchFamily="34" charset="-120"/>
              </a:rPr>
              <a:t>One EMG channel shows effort, not direction, so the camera decides moves.</a:t>
            </a:r>
            <a:endParaRPr lang="en-US" sz="1200" dirty="0"/>
          </a:p>
        </p:txBody>
      </p:sp>
      <p:sp>
        <p:nvSpPr>
          <p:cNvPr id="29" name="Heading Conclusions"/>
          <p:cNvSpPr txBox="1"/>
          <p:nvPr/>
        </p:nvSpPr>
        <p:spPr>
          <a:xfrm>
            <a:off x="8193024" y="4005072"/>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Conclusions</a:t>
            </a:r>
            <a:endParaRPr lang="en-US" sz="1600" dirty="0"/>
          </a:p>
        </p:txBody>
      </p:sp>
      <p:sp>
        <p:nvSpPr>
          <p:cNvPr id="30" name="Text 24"/>
          <p:cNvSpPr txBox="1"/>
          <p:nvPr/>
        </p:nvSpPr>
        <p:spPr>
          <a:xfrm>
            <a:off x="8193024" y="4325112"/>
            <a:ext cx="3730752" cy="658368"/>
          </a:xfrm>
          <a:prstGeom prst="rect">
            <a:avLst/>
          </a:prstGeom>
          <a:noFill/>
          <a:ln/>
        </p:spPr>
        <p:txBody>
          <a:bodyPr wrap="square" lIns="25400" tIns="25400" rIns="25400" bIns="25400" rtlCol="0" anchor="t"/>
          <a:lstStyle/>
          <a:p>
            <a:pPr marL="177800" indent="-177800" algn="l">
              <a:spcAft>
                <a:spcPts val="300"/>
              </a:spcAft>
              <a:buSzPct val="100000"/>
              <a:buChar char="•"/>
            </a:pPr>
            <a:r>
              <a:rPr lang="en-US" sz="1200" dirty="0">
                <a:solidFill>
                  <a:srgbClr val="000000"/>
                </a:solidFill>
                <a:latin typeface="Verdana" pitchFamily="34" charset="0"/>
                <a:ea typeface="Verdana" pitchFamily="34" charset="-122"/>
                <a:cs typeface="Verdana" pitchFamily="34" charset="-120"/>
              </a:rPr>
              <a:t>Low-cost prototype works end to end</a:t>
            </a:r>
            <a:endParaRPr lang="en-US" sz="1200" dirty="0"/>
          </a:p>
          <a:p>
            <a:pPr marL="177800" indent="-177800" algn="l">
              <a:spcAft>
                <a:spcPts val="300"/>
              </a:spcAft>
              <a:buSzPct val="100000"/>
              <a:buChar char="•"/>
            </a:pPr>
            <a:r>
              <a:rPr lang="en-US" sz="1200" dirty="0">
                <a:solidFill>
                  <a:srgbClr val="000000"/>
                </a:solidFill>
                <a:latin typeface="Verdana" pitchFamily="34" charset="0"/>
                <a:ea typeface="Verdana" pitchFamily="34" charset="-122"/>
                <a:cs typeface="Verdana" pitchFamily="34" charset="-120"/>
              </a:rPr>
              <a:t>EMG best gives activity feedback</a:t>
            </a:r>
            <a:endParaRPr lang="en-US" sz="1200" dirty="0"/>
          </a:p>
          <a:p>
            <a:pPr marL="177800" indent="-177800" algn="l">
              <a:spcAft>
                <a:spcPts val="300"/>
              </a:spcAft>
              <a:buSzPct val="100000"/>
              <a:buChar char="•"/>
            </a:pPr>
            <a:r>
              <a:rPr lang="en-US" sz="1200" dirty="0">
                <a:solidFill>
                  <a:srgbClr val="000000"/>
                </a:solidFill>
                <a:latin typeface="Verdana" pitchFamily="34" charset="0"/>
                <a:ea typeface="Verdana" pitchFamily="34" charset="-122"/>
                <a:cs typeface="Verdana" pitchFamily="34" charset="-120"/>
              </a:rPr>
              <a:t>Next: Wi-Fi, messaging, stroke pilot</a:t>
            </a:r>
            <a:endParaRPr lang="en-US" sz="1200" dirty="0"/>
          </a:p>
        </p:txBody>
      </p:sp>
      <p:sp>
        <p:nvSpPr>
          <p:cNvPr id="31" name="Heading References"/>
          <p:cNvSpPr txBox="1"/>
          <p:nvPr/>
        </p:nvSpPr>
        <p:spPr>
          <a:xfrm>
            <a:off x="8193024" y="5047488"/>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References</a:t>
            </a:r>
            <a:endParaRPr lang="en-US" sz="1600" dirty="0"/>
          </a:p>
        </p:txBody>
      </p:sp>
      <p:sp>
        <p:nvSpPr>
          <p:cNvPr id="32" name="Text 26"/>
          <p:cNvSpPr txBox="1"/>
          <p:nvPr/>
        </p:nvSpPr>
        <p:spPr>
          <a:xfrm>
            <a:off x="8193024" y="5367528"/>
            <a:ext cx="3730752" cy="1417320"/>
          </a:xfrm>
          <a:prstGeom prst="rect">
            <a:avLst/>
          </a:prstGeom>
          <a:noFill/>
          <a:ln/>
        </p:spPr>
        <p:txBody>
          <a:bodyPr wrap="square" lIns="25400" tIns="25400" rIns="25400" bIns="25400" rtlCol="0" anchor="t"/>
          <a:lstStyle/>
          <a:p>
            <a:pPr marL="0" indent="0" algn="l">
              <a:spcAft>
                <a:spcPts val="200"/>
              </a:spcAft>
              <a:buNone/>
            </a:pPr>
            <a:r>
              <a:rPr lang="en-US" sz="900" dirty="0">
                <a:solidFill>
                  <a:srgbClr val="000000"/>
                </a:solidFill>
                <a:latin typeface="Verdana" pitchFamily="34" charset="0"/>
                <a:ea typeface="Verdana" pitchFamily="34" charset="-122"/>
                <a:cs typeface="Verdana" pitchFamily="34" charset="-120"/>
              </a:rPr>
              <a:t xml:space="preserve">[1] GBD 2021 Stroke Risk Factor Collaborators, </a:t>
            </a:r>
            <a:r>
              <a:rPr lang="en-US" sz="900" dirty="0" i="1">
                <a:solidFill>
                  <a:srgbClr val="000000"/>
                </a:solidFill>
                <a:latin typeface="Verdana" pitchFamily="34" charset="0"/>
                <a:ea typeface="Verdana" pitchFamily="34" charset="-122"/>
                <a:cs typeface="Verdana" pitchFamily="34" charset="-120"/>
              </a:rPr>
              <a:t>Lancet Neurol.</a:t>
            </a:r>
            <a:r>
              <a:rPr lang="en-US" sz="900" dirty="0">
                <a:solidFill>
                  <a:srgbClr val="000000"/>
                </a:solidFill>
                <a:latin typeface="Verdana" pitchFamily="34" charset="0"/>
                <a:ea typeface="Verdana" pitchFamily="34" charset="-122"/>
                <a:cs typeface="Verdana" pitchFamily="34" charset="-120"/>
              </a:rPr>
              <a:t>, vol. 23, no. 10, pp. 973–1003, 2024.</a:t>
            </a:r>
            <a:endParaRPr lang="en-US" sz="900" dirty="0"/>
          </a:p>
          <a:p>
            <a:pPr marL="0" indent="0" algn="l">
              <a:spcAft>
                <a:spcPts val="200"/>
              </a:spcAft>
              <a:buNone/>
            </a:pPr>
            <a:r>
              <a:rPr lang="en-US" sz="900" dirty="0">
                <a:solidFill>
                  <a:srgbClr val="000000"/>
                </a:solidFill>
                <a:latin typeface="Verdana" pitchFamily="34" charset="0"/>
                <a:ea typeface="Verdana" pitchFamily="34" charset="-122"/>
                <a:cs typeface="Verdana" pitchFamily="34" charset="-120"/>
              </a:rPr>
              <a:t xml:space="preserve">[2] C. Winstein and R. Varghese, </a:t>
            </a:r>
            <a:r>
              <a:rPr lang="en-US" sz="900" dirty="0" i="1">
                <a:solidFill>
                  <a:srgbClr val="000000"/>
                </a:solidFill>
                <a:latin typeface="Verdana" pitchFamily="34" charset="0"/>
                <a:ea typeface="Verdana" pitchFamily="34" charset="-122"/>
                <a:cs typeface="Verdana" pitchFamily="34" charset="-120"/>
              </a:rPr>
              <a:t>NeuroRehabilitation</a:t>
            </a:r>
            <a:r>
              <a:rPr lang="en-US" sz="900" dirty="0">
                <a:solidFill>
                  <a:srgbClr val="000000"/>
                </a:solidFill>
                <a:latin typeface="Verdana" pitchFamily="34" charset="0"/>
                <a:ea typeface="Verdana" pitchFamily="34" charset="-122"/>
                <a:cs typeface="Verdana" pitchFamily="34" charset="-120"/>
              </a:rPr>
              <a:t>, vol. 43, no. 1, pp. 3–18, 2018.</a:t>
            </a:r>
            <a:endParaRPr lang="en-US" sz="900" dirty="0"/>
          </a:p>
          <a:p>
            <a:pPr marL="0" indent="0" algn="l">
              <a:spcAft>
                <a:spcPts val="200"/>
              </a:spcAft>
              <a:buNone/>
            </a:pPr>
            <a:r>
              <a:rPr lang="en-US" sz="900" dirty="0">
                <a:solidFill>
                  <a:srgbClr val="000000"/>
                </a:solidFill>
                <a:latin typeface="Verdana" pitchFamily="34" charset="0"/>
                <a:ea typeface="Verdana" pitchFamily="34" charset="-122"/>
                <a:cs typeface="Verdana" pitchFamily="34" charset="-120"/>
              </a:rPr>
              <a:t xml:space="preserve">[3] I. Doumas et al., </a:t>
            </a:r>
            <a:r>
              <a:rPr lang="en-US" sz="900" dirty="0" i="1">
                <a:solidFill>
                  <a:srgbClr val="000000"/>
                </a:solidFill>
                <a:latin typeface="Verdana" pitchFamily="34" charset="0"/>
                <a:ea typeface="Verdana" pitchFamily="34" charset="-122"/>
                <a:cs typeface="Verdana" pitchFamily="34" charset="-120"/>
              </a:rPr>
              <a:t>J. NeuroEng. Rehabil.</a:t>
            </a:r>
            <a:r>
              <a:rPr lang="en-US" sz="900" dirty="0">
                <a:solidFill>
                  <a:srgbClr val="000000"/>
                </a:solidFill>
                <a:latin typeface="Verdana" pitchFamily="34" charset="0"/>
                <a:ea typeface="Verdana" pitchFamily="34" charset="-122"/>
                <a:cs typeface="Verdana" pitchFamily="34" charset="-120"/>
              </a:rPr>
              <a:t>, vol. 18, no. 1, Art. no. 100, 2021.</a:t>
            </a:r>
            <a:endParaRPr lang="en-US" sz="900" dirty="0"/>
          </a:p>
          <a:p>
            <a:pPr marL="0" indent="0" algn="l">
              <a:spcAft>
                <a:spcPts val="200"/>
              </a:spcAft>
              <a:buNone/>
            </a:pPr>
            <a:r>
              <a:rPr lang="en-US" sz="900" dirty="0">
                <a:solidFill>
                  <a:srgbClr val="000000"/>
                </a:solidFill>
                <a:latin typeface="Verdana" pitchFamily="34" charset="0"/>
                <a:ea typeface="Verdana" pitchFamily="34" charset="-122"/>
                <a:cs typeface="Verdana" pitchFamily="34" charset="-120"/>
              </a:rPr>
              <a:t>[4] F. Zhang et al., “MediaPipe Hands,” arXiv:2006.10214, 2020.</a:t>
            </a:r>
            <a:endParaRPr lang="en-US" sz="900" dirty="0"/>
          </a:p>
          <a:p>
            <a:pPr marL="0" indent="0" algn="l">
              <a:spcAft>
                <a:spcPts val="200"/>
              </a:spcAft>
              <a:buNone/>
            </a:pPr>
            <a:r>
              <a:rPr lang="en-US" sz="900" dirty="0">
                <a:solidFill>
                  <a:srgbClr val="000000"/>
                </a:solidFill>
                <a:latin typeface="Verdana" pitchFamily="34" charset="0"/>
                <a:ea typeface="Verdana" pitchFamily="34" charset="-122"/>
                <a:cs typeface="Verdana" pitchFamily="34" charset="-120"/>
              </a:rPr>
              <a:t xml:space="preserve">[5] M. Goswami et al., “MOMENT,” in </a:t>
            </a:r>
            <a:r>
              <a:rPr lang="en-US" sz="900" dirty="0" i="1">
                <a:solidFill>
                  <a:srgbClr val="000000"/>
                </a:solidFill>
                <a:latin typeface="Verdana" pitchFamily="34" charset="0"/>
                <a:ea typeface="Verdana" pitchFamily="34" charset="-122"/>
                <a:cs typeface="Verdana" pitchFamily="34" charset="-120"/>
              </a:rPr>
              <a:t>Proc. ICML</a:t>
            </a:r>
            <a:r>
              <a:rPr lang="en-US" sz="900" dirty="0">
                <a:solidFill>
                  <a:srgbClr val="000000"/>
                </a:solidFill>
                <a:latin typeface="Verdana" pitchFamily="34" charset="0"/>
                <a:ea typeface="Verdana" pitchFamily="34" charset="-122"/>
                <a:cs typeface="Verdana" pitchFamily="34" charset="-120"/>
              </a:rPr>
              <a:t>, 2024.</a:t>
            </a:r>
            <a:endParaRPr lang="en-US" sz="900" dirty="0"/>
          </a:p>
        </p:txBody>
      </p:sp>
      <p:sp>
        <p:nvSpPr>
          <p:cNvPr id="33" name="Rounded Rectangle 32"/>
          <p:cNvSpPr/>
          <p:nvPr/>
        </p:nvSpPr>
        <p:spPr>
          <a:xfrm>
            <a:off x="4325112" y="2029968"/>
            <a:ext cx="1645920" cy="365760"/>
          </a:xfrm>
          <a:prstGeom prst="roundRect">
            <a:avLst>
              <a:gd name="adj" fmla="val 18000"/>
            </a:avLst>
          </a:prstGeom>
          <a:solidFill>
            <a:srgbClr val="D9E2F3"/>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square"/>
          <a:lstStyle/>
          <a:p>
            <a:pPr algn="ctr"/>
            <a:r>
              <a:rPr sz="1000" b="1">
                <a:solidFill>
                  <a:srgbClr val="000000"/>
                </a:solidFill>
                <a:latin typeface="Verdana"/>
              </a:rPr>
              <a:t>EMG + ESP32</a:t>
            </a:r>
          </a:p>
          <a:p>
            <a:pPr algn="ctr"/>
            <a:r>
              <a:rPr sz="900" b="0">
                <a:solidFill>
                  <a:srgbClr val="000000"/>
                </a:solidFill>
                <a:latin typeface="Verdana"/>
              </a:rPr>
              <a:t>1 kHz, 8 features</a:t>
            </a:r>
          </a:p>
        </p:txBody>
      </p:sp>
      <p:sp>
        <p:nvSpPr>
          <p:cNvPr id="34" name="Rounded Rectangle 33"/>
          <p:cNvSpPr/>
          <p:nvPr/>
        </p:nvSpPr>
        <p:spPr>
          <a:xfrm>
            <a:off x="6227064" y="2029968"/>
            <a:ext cx="1645920" cy="365760"/>
          </a:xfrm>
          <a:prstGeom prst="roundRect">
            <a:avLst>
              <a:gd name="adj" fmla="val 18000"/>
            </a:avLst>
          </a:prstGeom>
          <a:solidFill>
            <a:srgbClr val="D9E2F3"/>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square"/>
          <a:lstStyle/>
          <a:p>
            <a:pPr algn="ctr"/>
            <a:r>
              <a:rPr sz="1000" b="1">
                <a:solidFill>
                  <a:srgbClr val="000000"/>
                </a:solidFill>
                <a:latin typeface="Verdana"/>
              </a:rPr>
              <a:t>Webcam</a:t>
            </a:r>
          </a:p>
          <a:p>
            <a:pPr algn="ctr"/>
            <a:r>
              <a:rPr sz="900" b="0">
                <a:solidFill>
                  <a:srgbClr val="000000"/>
                </a:solidFill>
                <a:latin typeface="Verdana"/>
              </a:rPr>
              <a:t>MediaPipe, 7 labels</a:t>
            </a:r>
          </a:p>
        </p:txBody>
      </p:sp>
      <p:sp>
        <p:nvSpPr>
          <p:cNvPr id="35" name="Rounded Rectangle 34"/>
          <p:cNvSpPr/>
          <p:nvPr/>
        </p:nvSpPr>
        <p:spPr>
          <a:xfrm>
            <a:off x="4828032" y="2560320"/>
            <a:ext cx="2542032" cy="292608"/>
          </a:xfrm>
          <a:prstGeom prst="roundRect">
            <a:avLst>
              <a:gd name="adj" fmla="val 18000"/>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square"/>
          <a:lstStyle/>
          <a:p>
            <a:pPr algn="ctr"/>
            <a:r>
              <a:rPr sz="1000" b="1">
                <a:solidFill>
                  <a:srgbClr val="FFFFFF"/>
                </a:solidFill>
                <a:latin typeface="Verdana"/>
              </a:rPr>
              <a:t>Fusion engine</a:t>
            </a:r>
          </a:p>
          <a:p>
            <a:pPr algn="ctr"/>
            <a:r>
              <a:rPr sz="900" b="0">
                <a:solidFill>
                  <a:srgbClr val="FFFFFF"/>
                </a:solidFill>
                <a:latin typeface="Verdana"/>
              </a:rPr>
              <a:t>every 50 ms</a:t>
            </a:r>
          </a:p>
        </p:txBody>
      </p:sp>
      <p:sp>
        <p:nvSpPr>
          <p:cNvPr id="36" name="Rounded Rectangle 35"/>
          <p:cNvSpPr/>
          <p:nvPr/>
        </p:nvSpPr>
        <p:spPr>
          <a:xfrm>
            <a:off x="4325112" y="3072384"/>
            <a:ext cx="1645920" cy="365760"/>
          </a:xfrm>
          <a:prstGeom prst="roundRect">
            <a:avLst>
              <a:gd name="adj" fmla="val 18000"/>
            </a:avLst>
          </a:prstGeom>
          <a:solidFill>
            <a:srgbClr val="D9E2F3"/>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square"/>
          <a:lstStyle/>
          <a:p>
            <a:pPr algn="ctr"/>
            <a:r>
              <a:rPr sz="1000" b="1">
                <a:solidFill>
                  <a:srgbClr val="000000"/>
                </a:solidFill>
                <a:latin typeface="Verdana"/>
              </a:rPr>
              <a:t>Four games</a:t>
            </a:r>
          </a:p>
          <a:p>
            <a:pPr algn="ctr"/>
            <a:r>
              <a:rPr sz="900" b="0">
                <a:solidFill>
                  <a:srgbClr val="000000"/>
                </a:solidFill>
                <a:latin typeface="Verdana"/>
              </a:rPr>
              <a:t>adaptive difficulty</a:t>
            </a:r>
          </a:p>
        </p:txBody>
      </p:sp>
      <p:sp>
        <p:nvSpPr>
          <p:cNvPr id="37" name="Rounded Rectangle 36"/>
          <p:cNvSpPr/>
          <p:nvPr/>
        </p:nvSpPr>
        <p:spPr>
          <a:xfrm>
            <a:off x="6227064" y="3072384"/>
            <a:ext cx="1645920" cy="365760"/>
          </a:xfrm>
          <a:prstGeom prst="roundRect">
            <a:avLst>
              <a:gd name="adj" fmla="val 18000"/>
            </a:avLst>
          </a:prstGeom>
          <a:solidFill>
            <a:srgbClr val="D9E2F3"/>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0" bIns="0" wrap="square"/>
          <a:lstStyle/>
          <a:p>
            <a:pPr algn="ctr"/>
            <a:r>
              <a:rPr sz="1000" b="1">
                <a:solidFill>
                  <a:srgbClr val="000000"/>
                </a:solidFill>
                <a:latin typeface="Verdana"/>
              </a:rPr>
              <a:t>RehabHub</a:t>
            </a:r>
          </a:p>
          <a:p>
            <a:pPr algn="ctr"/>
            <a:r>
              <a:rPr sz="900" b="0">
                <a:solidFill>
                  <a:srgbClr val="000000"/>
                </a:solidFill>
                <a:latin typeface="Verdana"/>
              </a:rPr>
              <a:t>FastAPI + SQLite</a:t>
            </a:r>
          </a:p>
        </p:txBody>
      </p:sp>
      <p:cxnSp>
        <p:nvCxnSpPr>
          <p:cNvPr id="38" name="Connector 37"/>
          <p:cNvCxnSpPr/>
          <p:nvPr/>
        </p:nvCxnSpPr>
        <p:spPr>
          <a:xfrm>
            <a:off x="5148072" y="2395728"/>
            <a:ext cx="0" cy="164592"/>
          </a:xfrm>
          <a:prstGeom prst="line">
            <a:avLst/>
          </a:prstGeom>
          <a:ln w="19050">
            <a:solidFill>
              <a:srgbClr val="1F3864"/>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050024" y="2395728"/>
            <a:ext cx="0" cy="164592"/>
          </a:xfrm>
          <a:prstGeom prst="line">
            <a:avLst/>
          </a:prstGeom>
          <a:ln w="19050">
            <a:solidFill>
              <a:srgbClr val="1F3864"/>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148072" y="2852927"/>
            <a:ext cx="0" cy="219457"/>
          </a:xfrm>
          <a:prstGeom prst="line">
            <a:avLst/>
          </a:prstGeom>
          <a:ln w="19050">
            <a:solidFill>
              <a:srgbClr val="1F3864"/>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971032" y="3255264"/>
            <a:ext cx="256032" cy="0"/>
          </a:xfrm>
          <a:prstGeom prst="line">
            <a:avLst/>
          </a:prstGeom>
          <a:ln w="19050">
            <a:solidFill>
              <a:srgbClr val="1F3864"/>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42" name="Figure 02 chart"/>
          <p:cNvGraphicFramePr>
            <a:graphicFrameLocks noGrp="1"/>
          </p:cNvGraphicFramePr>
          <p:nvPr/>
        </p:nvGraphicFramePr>
        <p:xfrm>
          <a:off x="8229600" y="1993392"/>
          <a:ext cx="3657600" cy="1234440"/>
        </p:xfrm>
        <a:graphic>
          <a:graphicData uri="http://schemas.openxmlformats.org/drawingml/2006/chart">
            <c:chart xmlns:c="http://schemas.openxmlformats.org/drawingml/2006/chart" r:id="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Verdan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erdan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722</Words>
  <Application>Microsoft Office PowerPoint</Application>
  <PresentationFormat>Widescreen</PresentationFormat>
  <Paragraphs>82</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Verdana</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IRC 2026 Poster Slide</dc:title>
  <dc:subject>PptxGenJS Presentation</dc:subject>
  <dc:creator>PptxGenJS</dc:creator>
  <cp:lastModifiedBy>DELL</cp:lastModifiedBy>
  <cp:revision>2</cp:revision>
  <dcterms:created xsi:type="dcterms:W3CDTF">2026-10-20T07:51:38Z</dcterms:created>
  <dcterms:modified xsi:type="dcterms:W3CDTF">2026-10-20T07:53:31Z</dcterms:modified>
</cp:coreProperties>
</file>